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344" r:id="rId2"/>
    <p:sldId id="346" r:id="rId3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65860" autoAdjust="0"/>
  </p:normalViewPr>
  <p:slideViewPr>
    <p:cSldViewPr snapToGrid="0">
      <p:cViewPr varScale="1">
        <p:scale>
          <a:sx n="73" d="100"/>
          <a:sy n="73" d="100"/>
        </p:scale>
        <p:origin x="192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0EC0C6-32E7-4AED-A869-B5C4293DA1BF}" type="datetimeFigureOut">
              <a:rPr lang="it-IT" smtClean="0"/>
              <a:t>30/04/2025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84F648-5892-4F27-801F-7E18C710087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97215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Spiegazione del servizio in generale:</a:t>
            </a:r>
          </a:p>
          <a:p>
            <a:endParaRPr lang="it-IT" dirty="0"/>
          </a:p>
          <a:p>
            <a:r>
              <a:rPr lang="it-IT" dirty="0"/>
              <a:t>The </a:t>
            </a:r>
            <a:r>
              <a:rPr lang="it-IT" dirty="0" err="1"/>
              <a:t>proposed</a:t>
            </a:r>
            <a:r>
              <a:rPr lang="it-IT" dirty="0"/>
              <a:t> service </a:t>
            </a:r>
            <a:r>
              <a:rPr lang="it-IT" dirty="0" err="1"/>
              <a:t>consist</a:t>
            </a:r>
            <a:r>
              <a:rPr lang="it-IT" dirty="0"/>
              <a:t> in a </a:t>
            </a:r>
            <a:r>
              <a:rPr lang="en-US" sz="1200" b="1" dirty="0"/>
              <a:t>human-centric</a:t>
            </a:r>
            <a:r>
              <a:rPr lang="en-US" sz="1200" dirty="0"/>
              <a:t> demand response service that </a:t>
            </a:r>
            <a:r>
              <a:rPr lang="en-US" sz="1200" b="1" dirty="0"/>
              <a:t>prioritizes</a:t>
            </a:r>
            <a:r>
              <a:rPr lang="en-US" sz="1200" dirty="0"/>
              <a:t> people </a:t>
            </a:r>
            <a:r>
              <a:rPr lang="en-US" sz="1200" b="1" dirty="0"/>
              <a:t>comfort</a:t>
            </a:r>
            <a:r>
              <a:rPr lang="en-US" sz="1200" dirty="0"/>
              <a:t> while enhancing building energy performance through personalized comfort flexibility actions for the next day.</a:t>
            </a:r>
          </a:p>
          <a:p>
            <a:pPr>
              <a:buNone/>
            </a:pPr>
            <a:r>
              <a:rPr lang="en-US" dirty="0"/>
              <a:t>This approach is structured around three main components, as shown in Figure.</a:t>
            </a:r>
          </a:p>
          <a:p>
            <a:pPr>
              <a:buNone/>
            </a:pPr>
            <a:r>
              <a:rPr lang="en-US" dirty="0"/>
              <a:t>The first component is the </a:t>
            </a:r>
            <a:r>
              <a:rPr lang="en-US" b="1" dirty="0"/>
              <a:t>Building Level</a:t>
            </a:r>
            <a:r>
              <a:rPr lang="en-US" dirty="0"/>
              <a:t>, which involves the collection of data through sensors installed in the apartment or building under analysis. These sensors provide real-time information about the indoor environment, forming the basis for the next block.</a:t>
            </a:r>
          </a:p>
          <a:p>
            <a:pPr>
              <a:buNone/>
            </a:pPr>
            <a:r>
              <a:rPr lang="en-US" dirty="0"/>
              <a:t>Next is the </a:t>
            </a:r>
            <a:r>
              <a:rPr lang="en-US" b="1" dirty="0"/>
              <a:t>Comfort Flexibility Model</a:t>
            </a:r>
            <a:r>
              <a:rPr lang="en-US" dirty="0"/>
              <a:t>. In this block, the data collected is analyzed to assess people comfort (</a:t>
            </a:r>
            <a:r>
              <a:rPr lang="en-US" b="1" dirty="0"/>
              <a:t>comfort model</a:t>
            </a:r>
            <a:r>
              <a:rPr lang="en-US" dirty="0"/>
              <a:t>) and to provide comfort flexibility </a:t>
            </a:r>
            <a:r>
              <a:rPr lang="en-US" dirty="0" err="1"/>
              <a:t>reccomendations</a:t>
            </a:r>
            <a:r>
              <a:rPr lang="en-US" dirty="0"/>
              <a:t> for the next day (</a:t>
            </a:r>
            <a:r>
              <a:rPr lang="en-US" b="1" dirty="0"/>
              <a:t>optimization algorithm</a:t>
            </a:r>
            <a:r>
              <a:rPr lang="en-US" dirty="0"/>
              <a:t>). </a:t>
            </a:r>
            <a:r>
              <a:rPr lang="en-US" b="0" u="sng" dirty="0">
                <a:solidFill>
                  <a:srgbClr val="FF0000"/>
                </a:solidFill>
              </a:rPr>
              <a:t>If you want Diego you can also list the three different solutions as reported into the slide.</a:t>
            </a:r>
          </a:p>
          <a:p>
            <a:r>
              <a:rPr lang="en-US" dirty="0"/>
              <a:t>Finally, we reach the </a:t>
            </a:r>
            <a:r>
              <a:rPr lang="en-US" b="1" dirty="0"/>
              <a:t>Decision Phase</a:t>
            </a:r>
            <a:r>
              <a:rPr lang="en-US" dirty="0"/>
              <a:t>, where the insights gained from the flexibility model are combined with grid request. This phase leads to a decision that aims </a:t>
            </a:r>
            <a:r>
              <a:rPr lang="en-US" b="1" dirty="0"/>
              <a:t>to obtain the optimal trade-off </a:t>
            </a:r>
            <a:r>
              <a:rPr lang="en-US" dirty="0"/>
              <a:t>between comfort, energy efficiency and building performance.</a:t>
            </a:r>
          </a:p>
          <a:p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455845-362D-4A33-B8C7-EC2D62AC4F6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723744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Spiegazione del workflow schematizzato:</a:t>
            </a:r>
          </a:p>
          <a:p>
            <a:endParaRPr lang="it-IT" dirty="0"/>
          </a:p>
          <a:p>
            <a:r>
              <a:rPr lang="en-US" dirty="0"/>
              <a:t>Starting from historical data, AI is used to obtain the comfort flexibility recommendations. This AI approach is a combination of </a:t>
            </a:r>
            <a:r>
              <a:rPr lang="en-US" b="1" dirty="0"/>
              <a:t>LSTM</a:t>
            </a:r>
            <a:r>
              <a:rPr lang="en-US" dirty="0"/>
              <a:t> and </a:t>
            </a:r>
            <a:r>
              <a:rPr lang="en-US" b="1" dirty="0"/>
              <a:t>ML</a:t>
            </a:r>
            <a:r>
              <a:rPr lang="en-US" dirty="0"/>
              <a:t> techniques, and it is employed to </a:t>
            </a:r>
            <a:r>
              <a:rPr lang="en-US" b="1" dirty="0"/>
              <a:t>predict</a:t>
            </a:r>
            <a:r>
              <a:rPr lang="en-US" dirty="0"/>
              <a:t> both the </a:t>
            </a:r>
            <a:r>
              <a:rPr lang="en-US" b="1" dirty="0"/>
              <a:t>internal parameters </a:t>
            </a:r>
            <a:r>
              <a:rPr lang="en-US" dirty="0"/>
              <a:t>expected for the </a:t>
            </a:r>
            <a:r>
              <a:rPr lang="en-US" b="1" dirty="0"/>
              <a:t>following day </a:t>
            </a:r>
            <a:r>
              <a:rPr lang="en-US" dirty="0"/>
              <a:t>and the Thermal Sensation Vote (</a:t>
            </a:r>
            <a:r>
              <a:rPr lang="en-US" b="1" dirty="0"/>
              <a:t>TSV</a:t>
            </a:r>
            <a:r>
              <a:rPr lang="en-US" dirty="0"/>
              <a:t>). Subsequently, the </a:t>
            </a:r>
            <a:r>
              <a:rPr lang="en-US" b="1" dirty="0"/>
              <a:t>predicted TSV </a:t>
            </a:r>
            <a:r>
              <a:rPr lang="en-US" dirty="0"/>
              <a:t>and the </a:t>
            </a:r>
            <a:r>
              <a:rPr lang="en-US" b="1" dirty="0"/>
              <a:t>energy forecast </a:t>
            </a:r>
            <a:r>
              <a:rPr lang="en-US" dirty="0"/>
              <a:t>for the next day are used in the </a:t>
            </a:r>
            <a:r>
              <a:rPr lang="en-US" b="1" dirty="0"/>
              <a:t>optimization block</a:t>
            </a:r>
            <a:r>
              <a:rPr lang="en-US" dirty="0"/>
              <a:t> to generate the </a:t>
            </a:r>
            <a:r>
              <a:rPr lang="en-US" b="1" dirty="0"/>
              <a:t>three possible solutions</a:t>
            </a:r>
            <a:r>
              <a:rPr lang="en-US" dirty="0"/>
              <a:t>, as previously explained.</a:t>
            </a:r>
            <a:endParaRPr lang="it-IT" dirty="0"/>
          </a:p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455845-362D-4A33-B8C7-EC2D62AC4F6B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12490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tangolo con angoli arrotondati 4">
            <a:extLst>
              <a:ext uri="{FF2B5EF4-FFF2-40B4-BE49-F238E27FC236}">
                <a16:creationId xmlns:a16="http://schemas.microsoft.com/office/drawing/2014/main" id="{1C3D24E7-53DB-A618-EA39-FC7EBCF34185}"/>
              </a:ext>
            </a:extLst>
          </p:cNvPr>
          <p:cNvSpPr/>
          <p:nvPr userDrawn="1"/>
        </p:nvSpPr>
        <p:spPr>
          <a:xfrm>
            <a:off x="443948" y="1595106"/>
            <a:ext cx="11304103" cy="418622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3EC1CE60-86E5-186E-DBCD-5DBFD5DF64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93296" y="2067165"/>
            <a:ext cx="10471390" cy="1772653"/>
          </a:xfrm>
        </p:spPr>
        <p:txBody>
          <a:bodyPr anchor="b">
            <a:noAutofit/>
          </a:bodyPr>
          <a:lstStyle>
            <a:lvl1pPr algn="l">
              <a:defRPr sz="6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 dirty="0"/>
              <a:t>Fare clic per modificare lo stile del titolo dello schema</a:t>
            </a:r>
            <a:endParaRPr lang="en-GB" dirty="0"/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DB04101-BE57-3461-5655-73E1835938F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93296" y="4860506"/>
            <a:ext cx="10471390" cy="560580"/>
          </a:xfrm>
        </p:spPr>
        <p:txBody>
          <a:bodyPr anchor="b">
            <a:normAutofit/>
          </a:bodyPr>
          <a:lstStyle>
            <a:lvl1pPr marL="0" indent="0" algn="l">
              <a:buNone/>
              <a:defRPr sz="3000">
                <a:solidFill>
                  <a:srgbClr val="FFBE00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 dirty="0"/>
              <a:t>Date </a:t>
            </a:r>
            <a:r>
              <a:rPr lang="en-GB" dirty="0"/>
              <a:t> →</a:t>
            </a:r>
            <a:r>
              <a:rPr lang="it-IT" dirty="0"/>
              <a:t> Place</a:t>
            </a:r>
            <a:endParaRPr lang="en-GB" dirty="0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F61C1DDA-3C18-1C23-D31F-CC6513561F82}"/>
              </a:ext>
            </a:extLst>
          </p:cNvPr>
          <p:cNvSpPr txBox="1"/>
          <p:nvPr userDrawn="1"/>
        </p:nvSpPr>
        <p:spPr>
          <a:xfrm>
            <a:off x="8143794" y="657534"/>
            <a:ext cx="36042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dirty="0" err="1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 dirty="0">
                <a:solidFill>
                  <a:srgbClr val="FFBE00"/>
                </a:solidFill>
                <a:effectLst/>
                <a:latin typeface="Franklin Gothic Medium" panose="020B0603020102020204" pitchFamily="34" charset="0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9" name="Gruppo 8">
            <a:extLst>
              <a:ext uri="{FF2B5EF4-FFF2-40B4-BE49-F238E27FC236}">
                <a16:creationId xmlns:a16="http://schemas.microsoft.com/office/drawing/2014/main" id="{FBF14F18-E539-0A51-B9A7-18784AABBF14}"/>
              </a:ext>
            </a:extLst>
          </p:cNvPr>
          <p:cNvGrpSpPr/>
          <p:nvPr userDrawn="1"/>
        </p:nvGrpSpPr>
        <p:grpSpPr>
          <a:xfrm>
            <a:off x="443948" y="6111236"/>
            <a:ext cx="6557743" cy="430887"/>
            <a:chOff x="1904272" y="6282353"/>
            <a:chExt cx="6557743" cy="430887"/>
          </a:xfrm>
        </p:grpSpPr>
        <p:sp>
          <p:nvSpPr>
            <p:cNvPr id="10" name="CasellaDiTesto 9">
              <a:extLst>
                <a:ext uri="{FF2B5EF4-FFF2-40B4-BE49-F238E27FC236}">
                  <a16:creationId xmlns:a16="http://schemas.microsoft.com/office/drawing/2014/main" id="{5B3161C8-387B-CF66-70BB-6C1314600938}"/>
                </a:ext>
              </a:extLst>
            </p:cNvPr>
            <p:cNvSpPr txBox="1"/>
            <p:nvPr userDrawn="1"/>
          </p:nvSpPr>
          <p:spPr>
            <a:xfrm>
              <a:off x="2597457" y="6282353"/>
              <a:ext cx="5864558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dirty="0" err="1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 dirty="0">
                  <a:solidFill>
                    <a:srgbClr val="000000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 dirty="0">
                <a:solidFill>
                  <a:srgbClr val="000000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11" name="Immagine 10" descr="EU_flag.jpg">
              <a:extLst>
                <a:ext uri="{FF2B5EF4-FFF2-40B4-BE49-F238E27FC236}">
                  <a16:creationId xmlns:a16="http://schemas.microsoft.com/office/drawing/2014/main" id="{1211AAB3-031D-500D-B526-47CA16FBCDD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904272" y="6294110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D8A0B747-470E-3261-0C75-00777D32F52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4131" y="315876"/>
            <a:ext cx="4337058" cy="1144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76120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 preserve="1">
  <p:cSld name="Subtitle">
    <p:bg>
      <p:bgRef idx="1001">
        <a:schemeClr val="bg1"/>
      </p:bgRef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745FE534-471A-789F-3D41-FC5230DF51EA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20" name="Google Shape;20;p3"/>
          <p:cNvSpPr txBox="1">
            <a:spLocks noGrp="1"/>
          </p:cNvSpPr>
          <p:nvPr>
            <p:ph type="ctrTitle" hasCustomPrompt="1"/>
          </p:nvPr>
        </p:nvSpPr>
        <p:spPr>
          <a:xfrm>
            <a:off x="609934" y="1680200"/>
            <a:ext cx="10972132" cy="17488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54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r>
              <a:rPr lang="it-IT" dirty="0"/>
              <a:t> </a:t>
            </a:r>
            <a:endParaRPr dirty="0"/>
          </a:p>
        </p:txBody>
      </p:sp>
      <p:sp>
        <p:nvSpPr>
          <p:cNvPr id="21" name="Google Shape;21;p3"/>
          <p:cNvSpPr txBox="1">
            <a:spLocks noGrp="1"/>
          </p:cNvSpPr>
          <p:nvPr>
            <p:ph type="subTitle" idx="1"/>
          </p:nvPr>
        </p:nvSpPr>
        <p:spPr>
          <a:xfrm>
            <a:off x="609934" y="3558202"/>
            <a:ext cx="10972132" cy="531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  <a:lvl2pPr lvl="1" rtl="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4000"/>
            </a:lvl2pPr>
            <a:lvl3pPr lvl="2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80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800"/>
              </a:spcBef>
              <a:spcAft>
                <a:spcPts val="800"/>
              </a:spcAft>
              <a:buSzPts val="3000"/>
              <a:buNone/>
              <a:defRPr sz="4000"/>
            </a:lvl9pPr>
          </a:lstStyle>
          <a:p>
            <a:endParaRPr dirty="0"/>
          </a:p>
        </p:txBody>
      </p:sp>
      <p:sp>
        <p:nvSpPr>
          <p:cNvPr id="34" name="CasellaDiTesto 33">
            <a:extLst>
              <a:ext uri="{FF2B5EF4-FFF2-40B4-BE49-F238E27FC236}">
                <a16:creationId xmlns:a16="http://schemas.microsoft.com/office/drawing/2014/main" id="{FA8DC796-869F-EAB6-030A-6838B009292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sp>
        <p:nvSpPr>
          <p:cNvPr id="35" name="Slide Number Placeholder 5">
            <a:extLst>
              <a:ext uri="{FF2B5EF4-FFF2-40B4-BE49-F238E27FC236}">
                <a16:creationId xmlns:a16="http://schemas.microsoft.com/office/drawing/2014/main" id="{72FD3A4B-09DE-B98B-4226-A9911DF815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ABB147DA-5005-6081-C9D1-306534371D5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173A15F3-BF34-BFF4-09CE-15B8D54944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2024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>
  <p:cSld name="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con angoli arrotondati 1">
            <a:extLst>
              <a:ext uri="{FF2B5EF4-FFF2-40B4-BE49-F238E27FC236}">
                <a16:creationId xmlns:a16="http://schemas.microsoft.com/office/drawing/2014/main" id="{8397652E-9599-D4AC-5E61-D5C8080CE6AA}"/>
              </a:ext>
            </a:extLst>
          </p:cNvPr>
          <p:cNvSpPr/>
          <p:nvPr userDrawn="1"/>
        </p:nvSpPr>
        <p:spPr>
          <a:xfrm>
            <a:off x="299357" y="316774"/>
            <a:ext cx="11593286" cy="5841139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1080599" y="2124667"/>
            <a:ext cx="10226845" cy="3447458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33866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None/>
              <a:defRPr sz="4800" b="1">
                <a:solidFill>
                  <a:schemeClr val="lt1"/>
                </a:solidFill>
                <a:latin typeface="+mj-lt"/>
                <a:cs typeface="Calibri" panose="020F0502020204030204" pitchFamily="34" charset="0"/>
              </a:defRPr>
            </a:lvl1pPr>
            <a:lvl2pPr marL="1219170" lvl="1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2pPr>
            <a:lvl3pPr marL="1828754" lvl="2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3pPr>
            <a:lvl4pPr marL="2438339" lvl="3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4pPr>
            <a:lvl5pPr marL="3047924" lvl="4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5pPr>
            <a:lvl6pPr marL="3657509" lvl="5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6pPr>
            <a:lvl7pPr marL="4267093" lvl="6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●"/>
              <a:defRPr sz="4267">
                <a:solidFill>
                  <a:schemeClr val="lt1"/>
                </a:solidFill>
              </a:defRPr>
            </a:lvl7pPr>
            <a:lvl8pPr marL="4876678" lvl="7" indent="-575719" rtl="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3200"/>
              <a:buChar char="○"/>
              <a:defRPr sz="4267">
                <a:solidFill>
                  <a:schemeClr val="lt1"/>
                </a:solidFill>
              </a:defRPr>
            </a:lvl8pPr>
            <a:lvl9pPr marL="5486263" lvl="8" indent="-575719" rtl="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3200"/>
              <a:buChar char="■"/>
              <a:defRPr sz="4267">
                <a:solidFill>
                  <a:schemeClr val="lt1"/>
                </a:solidFill>
              </a:defRPr>
            </a:lvl9pPr>
          </a:lstStyle>
          <a:p>
            <a:endParaRPr dirty="0"/>
          </a:p>
        </p:txBody>
      </p:sp>
      <p:sp>
        <p:nvSpPr>
          <p:cNvPr id="28" name="Google Shape;28;p4"/>
          <p:cNvSpPr txBox="1"/>
          <p:nvPr/>
        </p:nvSpPr>
        <p:spPr>
          <a:xfrm>
            <a:off x="1080600" y="893692"/>
            <a:ext cx="2609600" cy="8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800" b="1" dirty="0">
                <a:solidFill>
                  <a:srgbClr val="FFBE00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endParaRPr sz="12800" b="1" dirty="0">
              <a:solidFill>
                <a:srgbClr val="FFBE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" name="Slide Number Placeholder 5">
            <a:extLst>
              <a:ext uri="{FF2B5EF4-FFF2-40B4-BE49-F238E27FC236}">
                <a16:creationId xmlns:a16="http://schemas.microsoft.com/office/drawing/2014/main" id="{0A67AD72-7D98-3BC5-21E7-804C0FF8E3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870CB3C-FFAA-B02A-D931-0F55CADAA00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E4588FB6-B195-4E99-F6C5-076BBE1231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D9E430E8-8D4F-818B-62E9-D332B8B1640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63844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 preserve="1" userDrawn="1">
  <p:cSld name="1_Quote">
    <p:bg>
      <p:bgRef idx="1001">
        <a:schemeClr val="bg1"/>
      </p:bgRef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tangolo con angoli arrotondati 3">
            <a:extLst>
              <a:ext uri="{FF2B5EF4-FFF2-40B4-BE49-F238E27FC236}">
                <a16:creationId xmlns:a16="http://schemas.microsoft.com/office/drawing/2014/main" id="{6C3C1013-6988-2551-982A-98A75E0F8B29}"/>
              </a:ext>
            </a:extLst>
          </p:cNvPr>
          <p:cNvSpPr/>
          <p:nvPr userDrawn="1"/>
        </p:nvSpPr>
        <p:spPr>
          <a:xfrm>
            <a:off x="299357" y="316775"/>
            <a:ext cx="11593286" cy="5842288"/>
          </a:xfrm>
          <a:prstGeom prst="roundRect">
            <a:avLst>
              <a:gd name="adj" fmla="val 6697"/>
            </a:avLst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2953F3"/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2" name="Google Shape;20;p3">
            <a:extLst>
              <a:ext uri="{FF2B5EF4-FFF2-40B4-BE49-F238E27FC236}">
                <a16:creationId xmlns:a16="http://schemas.microsoft.com/office/drawing/2014/main" id="{EC998C2B-A199-37F0-75E5-23168157D52C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701374" y="1134136"/>
            <a:ext cx="10972132" cy="4207566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8000">
                <a:solidFill>
                  <a:schemeClr val="bg1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6400">
                <a:solidFill>
                  <a:schemeClr val="accent2"/>
                </a:solidFill>
              </a:defRPr>
            </a:lvl9pPr>
          </a:lstStyle>
          <a:p>
            <a:endParaRPr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139ACF2D-2FE4-55D1-C56F-788D917C37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9DDA4922-8264-1E30-8662-4C7E9F563775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5" name="Immagine 4" descr="EU_flag.jpg">
            <a:extLst>
              <a:ext uri="{FF2B5EF4-FFF2-40B4-BE49-F238E27FC236}">
                <a16:creationId xmlns:a16="http://schemas.microsoft.com/office/drawing/2014/main" id="{30CA618A-BD46-61BD-D828-7E7419077E9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Elemento grafico 5">
            <a:extLst>
              <a:ext uri="{FF2B5EF4-FFF2-40B4-BE49-F238E27FC236}">
                <a16:creationId xmlns:a16="http://schemas.microsoft.com/office/drawing/2014/main" id="{2476B433-1C91-2C25-7E4D-A4B59C666F6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7300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preserve="1" userDrawn="1">
  <p:cSld name="Title + 1 column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tangolo con angoli arrotondati 10">
            <a:extLst>
              <a:ext uri="{FF2B5EF4-FFF2-40B4-BE49-F238E27FC236}">
                <a16:creationId xmlns:a16="http://schemas.microsoft.com/office/drawing/2014/main" id="{DE2E0F73-E7CE-2412-51EC-0D6DAABDFDE8}"/>
              </a:ext>
            </a:extLst>
          </p:cNvPr>
          <p:cNvSpPr/>
          <p:nvPr userDrawn="1"/>
        </p:nvSpPr>
        <p:spPr>
          <a:xfrm>
            <a:off x="299357" y="1336736"/>
            <a:ext cx="11593286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1"/>
          </p:nvPr>
        </p:nvSpPr>
        <p:spPr>
          <a:xfrm>
            <a:off x="609934" y="1753456"/>
            <a:ext cx="10972132" cy="39419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507987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2pPr>
            <a:lvl3pPr marL="1828754" lvl="2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3pPr>
            <a:lvl4pPr marL="2438339" lvl="3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4pPr>
            <a:lvl5pPr marL="3047924" lvl="4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5pPr>
            <a:lvl6pPr marL="3657509" lvl="5" indent="-507987" rtl="0">
              <a:spcBef>
                <a:spcPts val="800"/>
              </a:spcBef>
              <a:spcAft>
                <a:spcPts val="0"/>
              </a:spcAft>
              <a:buSzPts val="2400"/>
              <a:buChar char="■"/>
              <a:defRPr/>
            </a:lvl6pPr>
            <a:lvl7pPr marL="4267093" lvl="6" indent="-507987" rtl="0">
              <a:spcBef>
                <a:spcPts val="800"/>
              </a:spcBef>
              <a:spcAft>
                <a:spcPts val="0"/>
              </a:spcAft>
              <a:buSzPts val="2400"/>
              <a:buChar char="●"/>
              <a:defRPr/>
            </a:lvl7pPr>
            <a:lvl8pPr marL="4876678" lvl="7" indent="-507987" rtl="0">
              <a:spcBef>
                <a:spcPts val="800"/>
              </a:spcBef>
              <a:spcAft>
                <a:spcPts val="0"/>
              </a:spcAft>
              <a:buSzPts val="2400"/>
              <a:buChar char="○"/>
              <a:defRPr/>
            </a:lvl8pPr>
            <a:lvl9pPr marL="5486263" lvl="8" indent="-507987" rtl="0">
              <a:spcBef>
                <a:spcPts val="800"/>
              </a:spcBef>
              <a:spcAft>
                <a:spcPts val="800"/>
              </a:spcAft>
              <a:buSzPts val="2400"/>
              <a:buChar char="■"/>
              <a:defRPr/>
            </a:lvl9pPr>
          </a:lstStyle>
          <a:p>
            <a:endParaRPr dirty="0"/>
          </a:p>
        </p:txBody>
      </p:sp>
      <p:sp>
        <p:nvSpPr>
          <p:cNvPr id="7" name="Google Shape;43;p6">
            <a:extLst>
              <a:ext uri="{FF2B5EF4-FFF2-40B4-BE49-F238E27FC236}">
                <a16:creationId xmlns:a16="http://schemas.microsoft.com/office/drawing/2014/main" id="{0721478A-5C19-6F6E-9967-A7FA9E523E2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03E7797E-3A0D-DC10-4D63-9C8DF21AC55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BB1B83D-72B9-9910-7057-3F820025D5C4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A4BE48C-B2DD-5F1D-8912-87E4E594FD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68548EE8-F5FB-B61B-6CD3-EAE7E2AFCAE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7482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98011489-1EFE-B975-00D0-8D3EC0C37836}"/>
              </a:ext>
            </a:extLst>
          </p:cNvPr>
          <p:cNvSpPr/>
          <p:nvPr userDrawn="1"/>
        </p:nvSpPr>
        <p:spPr>
          <a:xfrm>
            <a:off x="29935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9" name="Rettangolo con angoli arrotondati 8">
            <a:extLst>
              <a:ext uri="{FF2B5EF4-FFF2-40B4-BE49-F238E27FC236}">
                <a16:creationId xmlns:a16="http://schemas.microsoft.com/office/drawing/2014/main" id="{EB896BB9-A4EE-6524-BE27-B67A7D3D88BF}"/>
              </a:ext>
            </a:extLst>
          </p:cNvPr>
          <p:cNvSpPr/>
          <p:nvPr userDrawn="1"/>
        </p:nvSpPr>
        <p:spPr>
          <a:xfrm>
            <a:off x="6202017" y="1336736"/>
            <a:ext cx="5690627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1757230"/>
            <a:ext cx="5046283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6512593" y="1757230"/>
            <a:ext cx="5069474" cy="4098121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solidFill>
                  <a:srgbClr val="2953F3"/>
                </a:solidFill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10" name="Google Shape;43;p6">
            <a:extLst>
              <a:ext uri="{FF2B5EF4-FFF2-40B4-BE49-F238E27FC236}">
                <a16:creationId xmlns:a16="http://schemas.microsoft.com/office/drawing/2014/main" id="{4038C118-C774-4496-38F0-934EBD6D44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A4BDE2F-1BD5-7B3D-0991-134970CA66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D69E9811-32B8-25D7-A670-35FF0DB36A56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EDE822B-3691-C82B-2CFE-9ACDE2C46F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65EE32D-FDDA-2DFB-5D01-7D89E493875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487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tangolo con angoli arrotondati 7">
            <a:extLst>
              <a:ext uri="{FF2B5EF4-FFF2-40B4-BE49-F238E27FC236}">
                <a16:creationId xmlns:a16="http://schemas.microsoft.com/office/drawing/2014/main" id="{5C166B6F-C206-727B-8AD9-4AF78448E67F}"/>
              </a:ext>
            </a:extLst>
          </p:cNvPr>
          <p:cNvSpPr/>
          <p:nvPr userDrawn="1"/>
        </p:nvSpPr>
        <p:spPr>
          <a:xfrm>
            <a:off x="299519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3" name="Rettangolo con angoli arrotondati 12">
            <a:extLst>
              <a:ext uri="{FF2B5EF4-FFF2-40B4-BE49-F238E27FC236}">
                <a16:creationId xmlns:a16="http://schemas.microsoft.com/office/drawing/2014/main" id="{075F4FF5-8472-C7D7-3C91-949D6D5A87BA}"/>
              </a:ext>
            </a:extLst>
          </p:cNvPr>
          <p:cNvSpPr/>
          <p:nvPr userDrawn="1"/>
        </p:nvSpPr>
        <p:spPr>
          <a:xfrm>
            <a:off x="8164856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15" name="Rettangolo con angoli arrotondati 14">
            <a:extLst>
              <a:ext uri="{FF2B5EF4-FFF2-40B4-BE49-F238E27FC236}">
                <a16:creationId xmlns:a16="http://schemas.microsoft.com/office/drawing/2014/main" id="{987BF293-7B9B-971E-CF15-6B24FF05CBEE}"/>
              </a:ext>
            </a:extLst>
          </p:cNvPr>
          <p:cNvSpPr/>
          <p:nvPr userDrawn="1"/>
        </p:nvSpPr>
        <p:spPr>
          <a:xfrm>
            <a:off x="4232187" y="1336736"/>
            <a:ext cx="3727625" cy="4822327"/>
          </a:xfrm>
          <a:prstGeom prst="roundRect">
            <a:avLst>
              <a:gd name="adj" fmla="val 6697"/>
            </a:avLst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>
              <a:latin typeface="+mj-lt"/>
            </a:endParaRPr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09934" y="1776569"/>
            <a:ext cx="3086855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381947" y="1776569"/>
            <a:ext cx="3428269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5" name="Google Shape;55;p7"/>
          <p:cNvSpPr txBox="1">
            <a:spLocks noGrp="1"/>
          </p:cNvSpPr>
          <p:nvPr>
            <p:ph type="body" idx="3"/>
          </p:nvPr>
        </p:nvSpPr>
        <p:spPr>
          <a:xfrm>
            <a:off x="8386354" y="1776569"/>
            <a:ext cx="3195712" cy="424214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57189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2pPr>
            <a:lvl3pPr marL="1828754" lvl="2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3pPr>
            <a:lvl4pPr marL="2438339" lvl="3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4pPr>
            <a:lvl5pPr marL="3047924" lvl="4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5pPr>
            <a:lvl6pPr marL="3657509" lvl="5" indent="-457189" rtl="0">
              <a:spcBef>
                <a:spcPts val="800"/>
              </a:spcBef>
              <a:spcAft>
                <a:spcPts val="0"/>
              </a:spcAft>
              <a:buSzPts val="1800"/>
              <a:buChar char="■"/>
              <a:defRPr sz="2400"/>
            </a:lvl6pPr>
            <a:lvl7pPr marL="4267093" lvl="6" indent="-457189" rtl="0">
              <a:spcBef>
                <a:spcPts val="800"/>
              </a:spcBef>
              <a:spcAft>
                <a:spcPts val="0"/>
              </a:spcAft>
              <a:buSzPts val="1800"/>
              <a:buChar char="●"/>
              <a:defRPr sz="2400"/>
            </a:lvl7pPr>
            <a:lvl8pPr marL="4876678" lvl="7" indent="-457189" rtl="0">
              <a:spcBef>
                <a:spcPts val="800"/>
              </a:spcBef>
              <a:spcAft>
                <a:spcPts val="0"/>
              </a:spcAft>
              <a:buSzPts val="1800"/>
              <a:buChar char="○"/>
              <a:defRPr sz="2400"/>
            </a:lvl8pPr>
            <a:lvl9pPr marL="5486263" lvl="8" indent="-457189" rtl="0">
              <a:spcBef>
                <a:spcPts val="800"/>
              </a:spcBef>
              <a:spcAft>
                <a:spcPts val="800"/>
              </a:spcAft>
              <a:buSzPts val="1800"/>
              <a:buChar char="■"/>
              <a:defRPr sz="2400"/>
            </a:lvl9pPr>
          </a:lstStyle>
          <a:p>
            <a:endParaRPr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E94957DD-6BA5-1F5F-BDEE-D7D86970E0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D36C937C-4B92-C59B-D756-2236E8A3A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EDDB2CC-BDF8-8588-4AAC-A004C5BC8292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B7A948E6-B4A6-067B-6673-6D9A35B526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DD1A07D4-BF78-EBBC-8A2E-5E508C6B79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89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 preserve="1" userDrawn="1">
  <p:cSld name="1_Title + 3 column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gnaposto immagine 8">
            <a:extLst>
              <a:ext uri="{FF2B5EF4-FFF2-40B4-BE49-F238E27FC236}">
                <a16:creationId xmlns:a16="http://schemas.microsoft.com/office/drawing/2014/main" id="{0A8129D4-55DC-62D2-2222-84A2784B6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934" y="1924854"/>
            <a:ext cx="2395809" cy="2150444"/>
          </a:xfrm>
        </p:spPr>
        <p:txBody>
          <a:bodyPr/>
          <a:lstStyle/>
          <a:p>
            <a:endParaRPr lang="en-GB" dirty="0"/>
          </a:p>
        </p:txBody>
      </p:sp>
      <p:sp>
        <p:nvSpPr>
          <p:cNvPr id="10" name="Segnaposto immagine 8">
            <a:extLst>
              <a:ext uri="{FF2B5EF4-FFF2-40B4-BE49-F238E27FC236}">
                <a16:creationId xmlns:a16="http://schemas.microsoft.com/office/drawing/2014/main" id="{1918D65C-027A-D061-333B-C9B9DA09507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469514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1" name="Segnaposto immagine 8">
            <a:extLst>
              <a:ext uri="{FF2B5EF4-FFF2-40B4-BE49-F238E27FC236}">
                <a16:creationId xmlns:a16="http://schemas.microsoft.com/office/drawing/2014/main" id="{B76A6D42-4144-3492-40F0-A45E51FEC14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327482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2" name="Segnaposto immagine 8">
            <a:extLst>
              <a:ext uri="{FF2B5EF4-FFF2-40B4-BE49-F238E27FC236}">
                <a16:creationId xmlns:a16="http://schemas.microsoft.com/office/drawing/2014/main" id="{F9535ADE-039C-510F-9E3D-29C9CE09359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87063" y="1924854"/>
            <a:ext cx="2395809" cy="2150444"/>
          </a:xfrm>
        </p:spPr>
        <p:txBody>
          <a:bodyPr/>
          <a:lstStyle/>
          <a:p>
            <a:endParaRPr lang="en-GB"/>
          </a:p>
        </p:txBody>
      </p:sp>
      <p:sp>
        <p:nvSpPr>
          <p:cNvPr id="18" name="Segnaposto testo 17">
            <a:extLst>
              <a:ext uri="{FF2B5EF4-FFF2-40B4-BE49-F238E27FC236}">
                <a16:creationId xmlns:a16="http://schemas.microsoft.com/office/drawing/2014/main" id="{EF6E8857-65F9-7171-0337-E160055508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59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19" name="Segnaposto testo 17">
            <a:extLst>
              <a:ext uri="{FF2B5EF4-FFF2-40B4-BE49-F238E27FC236}">
                <a16:creationId xmlns:a16="http://schemas.microsoft.com/office/drawing/2014/main" id="{5941CDA5-6C3C-AFBF-4676-C11445364B86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469514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20" name="Segnaposto testo 17">
            <a:extLst>
              <a:ext uri="{FF2B5EF4-FFF2-40B4-BE49-F238E27FC236}">
                <a16:creationId xmlns:a16="http://schemas.microsoft.com/office/drawing/2014/main" id="{2A4D1BE1-0480-E586-6486-A1EF9AF9D7E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326679" y="4291145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21" name="Segnaposto testo 17">
            <a:extLst>
              <a:ext uri="{FF2B5EF4-FFF2-40B4-BE49-F238E27FC236}">
                <a16:creationId xmlns:a16="http://schemas.microsoft.com/office/drawing/2014/main" id="{8CD0C6E0-84CE-2319-9B6D-E81DA1B60F5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844" y="4295983"/>
            <a:ext cx="2395809" cy="1272512"/>
          </a:xfrm>
        </p:spPr>
        <p:txBody>
          <a:bodyPr>
            <a:noAutofit/>
          </a:bodyPr>
          <a:lstStyle>
            <a:lvl1pPr marL="0" indent="0" algn="ctr">
              <a:buNone/>
              <a:defRPr sz="16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endParaRPr lang="en-GB"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FEA97FFC-AE00-D527-3685-97E09B17F6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C2977F4-E552-1777-04FB-E9A38496B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36C7A10D-0EC5-213D-04E0-A7C9D9FD063A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9C7E14F0-2711-3F25-2340-412A2AEF0C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E9CDCC65-BADA-07AE-9835-65484F36774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1722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43;p6">
            <a:extLst>
              <a:ext uri="{FF2B5EF4-FFF2-40B4-BE49-F238E27FC236}">
                <a16:creationId xmlns:a16="http://schemas.microsoft.com/office/drawing/2014/main" id="{3EA769FC-9D17-3C85-95D4-C9E76F8F71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7419015-35FA-E14E-81DE-0510E332F1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C6DE781C-FA3E-5D71-1AEC-CED8FEDBA8FF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AE017E46-8462-FA6F-711E-39CDE9CEEF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1CB5803C-DA83-5D29-3C20-60DAFCBFA4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80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BED0A047-5DDB-BD3C-75F6-79DA4837FEE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GB"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875067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609585" lvl="0" indent="-304792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None/>
              <a:defRPr sz="2400">
                <a:solidFill>
                  <a:srgbClr val="FFBE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108124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preserve="1" userDrawn="1">
  <p:cSld name="1_Title + 2 column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609934" y="524733"/>
            <a:ext cx="5380050" cy="150285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609934" y="2199861"/>
            <a:ext cx="5059346" cy="3959202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609585" lvl="0" indent="-474121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400">
                <a:latin typeface="+mn-lt"/>
                <a:cs typeface="Calibri" panose="020F0502020204030204" pitchFamily="34" charset="0"/>
              </a:defRPr>
            </a:lvl1pPr>
            <a:lvl2pPr marL="1219170" lvl="1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2pPr>
            <a:lvl3pPr marL="1828754" lvl="2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3pPr>
            <a:lvl4pPr marL="2438339" lvl="3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4pPr>
            <a:lvl5pPr marL="3047924" lvl="4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5pPr>
            <a:lvl6pPr marL="3657509" lvl="5" indent="-474121" rtl="0">
              <a:spcBef>
                <a:spcPts val="800"/>
              </a:spcBef>
              <a:spcAft>
                <a:spcPts val="0"/>
              </a:spcAft>
              <a:buSzPts val="2000"/>
              <a:buChar char="■"/>
              <a:defRPr sz="2667"/>
            </a:lvl6pPr>
            <a:lvl7pPr marL="4267093" lvl="6" indent="-474121" rtl="0">
              <a:spcBef>
                <a:spcPts val="800"/>
              </a:spcBef>
              <a:spcAft>
                <a:spcPts val="0"/>
              </a:spcAft>
              <a:buSzPts val="2000"/>
              <a:buChar char="●"/>
              <a:defRPr sz="2667"/>
            </a:lvl7pPr>
            <a:lvl8pPr marL="4876678" lvl="7" indent="-474121" rtl="0">
              <a:spcBef>
                <a:spcPts val="800"/>
              </a:spcBef>
              <a:spcAft>
                <a:spcPts val="0"/>
              </a:spcAft>
              <a:buSzPts val="2000"/>
              <a:buChar char="○"/>
              <a:defRPr sz="2667"/>
            </a:lvl8pPr>
            <a:lvl9pPr marL="5486263" lvl="8" indent="-474121" rtl="0">
              <a:spcBef>
                <a:spcPts val="800"/>
              </a:spcBef>
              <a:spcAft>
                <a:spcPts val="800"/>
              </a:spcAft>
              <a:buSzPts val="2000"/>
              <a:buChar char="■"/>
              <a:defRPr sz="2667"/>
            </a:lvl9pPr>
          </a:lstStyle>
          <a:p>
            <a:endParaRPr dirty="0"/>
          </a:p>
        </p:txBody>
      </p:sp>
      <p:sp>
        <p:nvSpPr>
          <p:cNvPr id="2" name="Segnaposto immagine 2">
            <a:extLst>
              <a:ext uri="{FF2B5EF4-FFF2-40B4-BE49-F238E27FC236}">
                <a16:creationId xmlns:a16="http://schemas.microsoft.com/office/drawing/2014/main" id="{08566262-D441-F67D-9953-C3882305DF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16929" y="315623"/>
            <a:ext cx="5475715" cy="5843440"/>
          </a:xfrm>
        </p:spPr>
        <p:txBody>
          <a:bodyPr/>
          <a:lstStyle/>
          <a:p>
            <a:endParaRPr lang="en-GB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946959C9-887F-53B8-7753-96BA0AFCA0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A727447D-A4B2-1A32-C65B-B70357957933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4" name="Immagine 3" descr="EU_flag.jpg">
            <a:extLst>
              <a:ext uri="{FF2B5EF4-FFF2-40B4-BE49-F238E27FC236}">
                <a16:creationId xmlns:a16="http://schemas.microsoft.com/office/drawing/2014/main" id="{2C69ED61-DDAC-41C9-F311-7066D4CFA82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68AC03D8-004E-F772-1C17-2188DB0F447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57614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 userDrawn="1">
  <p:cSld name="1_Title 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6D4E73D0-A4B2-3D4E-38B0-93F7340A250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599" y="1710237"/>
            <a:ext cx="10972131" cy="4207238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5" name="Google Shape;43;p6">
            <a:extLst>
              <a:ext uri="{FF2B5EF4-FFF2-40B4-BE49-F238E27FC236}">
                <a16:creationId xmlns:a16="http://schemas.microsoft.com/office/drawing/2014/main" id="{CDE2ABB9-C9BF-9835-8C98-4FB9DCD3B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934" y="504624"/>
            <a:ext cx="10972132" cy="5284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rgbClr val="2953F3"/>
                </a:solidFill>
                <a:latin typeface="+mj-lt"/>
                <a:cs typeface="Calibri" panose="020F0502020204030204" pitchFamily="34" charset="0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D748FC0-7C44-567B-E6ED-FB7E4B3B91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EFB90555-C23C-DA3C-02E1-EA4EF25ADBB1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726B7069-091B-F66D-5997-30B3BE9A05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459C80EA-8D72-7C21-46E9-043893EED56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00061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 preserve="1" userDrawn="1">
  <p:cSld name="1_Caption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609934" y="5424711"/>
            <a:ext cx="10972132" cy="40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0" lvl="0" indent="0" rtl="0">
              <a:spcBef>
                <a:spcPts val="0"/>
              </a:spcBef>
              <a:spcAft>
                <a:spcPts val="800"/>
              </a:spcAft>
              <a:buClr>
                <a:schemeClr val="accent2"/>
              </a:buClr>
              <a:buSzPts val="1800"/>
              <a:buFont typeface="Arial" panose="020B0604020202020204" pitchFamily="34" charset="0"/>
              <a:buNone/>
              <a:defRPr sz="1800">
                <a:solidFill>
                  <a:srgbClr val="000000"/>
                </a:solidFill>
                <a:latin typeface="+mn-lt"/>
                <a:cs typeface="Calibri" panose="020F0502020204030204" pitchFamily="34" charset="0"/>
              </a:defRPr>
            </a:lvl1pPr>
          </a:lstStyle>
          <a:p>
            <a:endParaRPr dirty="0"/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3947352F-5681-5B32-5816-0863515346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934" y="582933"/>
            <a:ext cx="10852496" cy="482338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9A9D9E8C-312F-C286-3D06-93BA30615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B5B28F7A-A16D-DAEB-79F7-28B790F915C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073C97DB-F87B-7BF2-A215-6BDC433AB7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Elemento grafico 4">
            <a:extLst>
              <a:ext uri="{FF2B5EF4-FFF2-40B4-BE49-F238E27FC236}">
                <a16:creationId xmlns:a16="http://schemas.microsoft.com/office/drawing/2014/main" id="{C9836B90-DDBB-F052-4265-5C2CCDE7627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42681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 preserve="1">
  <p:cSld name="Blank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88A5C6C2-4BE5-E899-A0C4-3CD073D6A69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159063"/>
            <a:ext cx="683623" cy="698937"/>
          </a:xfrm>
          <a:prstGeom prst="rect">
            <a:avLst/>
          </a:prstGeom>
        </p:spPr>
        <p:txBody>
          <a:bodyPr vert="horz" lIns="91440" tIns="45720" rIns="0" bIns="72000" rtlCol="0" anchor="ctr"/>
          <a:lstStyle>
            <a:lvl1pPr algn="r">
              <a:defRPr sz="1200" b="0" i="0">
                <a:solidFill>
                  <a:schemeClr val="bg1">
                    <a:lumMod val="65000"/>
                  </a:schemeClr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 dirty="0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78A084BC-C046-8A10-92A6-79BD116BC3A0}"/>
              </a:ext>
            </a:extLst>
          </p:cNvPr>
          <p:cNvSpPr txBox="1"/>
          <p:nvPr userDrawn="1"/>
        </p:nvSpPr>
        <p:spPr>
          <a:xfrm>
            <a:off x="2759385" y="6379879"/>
            <a:ext cx="516977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Funded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by the </a:t>
            </a:r>
            <a:r>
              <a:rPr lang="it-IT" sz="1000" b="0" i="0" dirty="0" err="1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European</a:t>
            </a:r>
            <a:r>
              <a:rPr lang="it-IT" sz="1000" b="0" i="0" dirty="0">
                <a:solidFill>
                  <a:srgbClr val="999999"/>
                </a:solidFill>
                <a:effectLst/>
                <a:latin typeface="Aptos" panose="020B0004020202020204" pitchFamily="34" charset="0"/>
              </a:rPr>
              <a:t> Union</a:t>
            </a:r>
            <a:endParaRPr lang="en-GB" sz="1000" b="0" dirty="0">
              <a:solidFill>
                <a:schemeClr val="bg1">
                  <a:lumMod val="75000"/>
                </a:schemeClr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3" name="Immagine 2" descr="EU_flag.jpg">
            <a:extLst>
              <a:ext uri="{FF2B5EF4-FFF2-40B4-BE49-F238E27FC236}">
                <a16:creationId xmlns:a16="http://schemas.microsoft.com/office/drawing/2014/main" id="{FA3FEFD8-8350-F4E5-1307-8C1547E3D0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42025" y="6346103"/>
            <a:ext cx="475370" cy="31377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4" name="Elemento grafico 3">
            <a:extLst>
              <a:ext uri="{FF2B5EF4-FFF2-40B4-BE49-F238E27FC236}">
                <a16:creationId xmlns:a16="http://schemas.microsoft.com/office/drawing/2014/main" id="{0DDFF656-561F-1706-6D44-C93AD7F1D03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28437" y="6278258"/>
            <a:ext cx="1753933" cy="463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851998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 preserve="1" userDrawn="1">
  <p:cSld name="Blank dark">
    <p:bg>
      <p:bgPr>
        <a:gradFill>
          <a:gsLst>
            <a:gs pos="0">
              <a:schemeClr val="accent1">
                <a:lumMod val="75000"/>
              </a:schemeClr>
            </a:gs>
            <a:gs pos="100000">
              <a:srgbClr val="2953F3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C06104A-5EEA-C2DB-A011-1A5BA1732499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09934" y="2623226"/>
            <a:ext cx="10972132" cy="1499987"/>
          </a:xfrm>
        </p:spPr>
        <p:txBody>
          <a:bodyPr anchor="b">
            <a:noAutofit/>
          </a:bodyPr>
          <a:lstStyle>
            <a:lvl1pPr algn="ctr">
              <a:defRPr sz="800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it-IT" dirty="0"/>
              <a:t>Thank </a:t>
            </a:r>
            <a:r>
              <a:rPr lang="it-IT" dirty="0" err="1"/>
              <a:t>you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D64BA209-3E89-0D9F-5CAD-44C105E73DF5}"/>
              </a:ext>
            </a:extLst>
          </p:cNvPr>
          <p:cNvSpPr txBox="1"/>
          <p:nvPr userDrawn="1"/>
        </p:nvSpPr>
        <p:spPr>
          <a:xfrm>
            <a:off x="4224519" y="1547569"/>
            <a:ext cx="374295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Data-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driven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Residential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Energy Carrier-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agnostic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Demand 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Response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Tools and Multi-</a:t>
            </a:r>
            <a:r>
              <a:rPr lang="it-IT" sz="1200" b="1" kern="1200" dirty="0" err="1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value</a:t>
            </a:r>
            <a:r>
              <a:rPr lang="it-IT" sz="1200" b="1" kern="1200" dirty="0">
                <a:solidFill>
                  <a:schemeClr val="bg1"/>
                </a:solidFill>
                <a:effectLst/>
                <a:latin typeface="+mn-lt"/>
                <a:ea typeface="+mn-ea"/>
                <a:cs typeface="Calibri" panose="020F0502020204030204" pitchFamily="34" charset="0"/>
              </a:rPr>
              <a:t> Services</a:t>
            </a:r>
          </a:p>
        </p:txBody>
      </p:sp>
      <p:grpSp>
        <p:nvGrpSpPr>
          <p:cNvPr id="6" name="Gruppo 5">
            <a:extLst>
              <a:ext uri="{FF2B5EF4-FFF2-40B4-BE49-F238E27FC236}">
                <a16:creationId xmlns:a16="http://schemas.microsoft.com/office/drawing/2014/main" id="{EBB65772-5233-83CE-A21D-F07D998180F0}"/>
              </a:ext>
            </a:extLst>
          </p:cNvPr>
          <p:cNvGrpSpPr/>
          <p:nvPr userDrawn="1"/>
        </p:nvGrpSpPr>
        <p:grpSpPr>
          <a:xfrm>
            <a:off x="3281178" y="5586961"/>
            <a:ext cx="5629636" cy="922966"/>
            <a:chOff x="688393" y="5790274"/>
            <a:chExt cx="5629636" cy="922966"/>
          </a:xfrm>
        </p:grpSpPr>
        <p:sp>
          <p:nvSpPr>
            <p:cNvPr id="7" name="CasellaDiTesto 6">
              <a:extLst>
                <a:ext uri="{FF2B5EF4-FFF2-40B4-BE49-F238E27FC236}">
                  <a16:creationId xmlns:a16="http://schemas.microsoft.com/office/drawing/2014/main" id="{7BF06F3E-4204-1E92-8B55-4E15DDE605AE}"/>
                </a:ext>
              </a:extLst>
            </p:cNvPr>
            <p:cNvSpPr txBox="1"/>
            <p:nvPr userDrawn="1"/>
          </p:nvSpPr>
          <p:spPr>
            <a:xfrm>
              <a:off x="688393" y="6282353"/>
              <a:ext cx="562963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This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project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has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received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funding from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European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Union's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Horizon Europe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Research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</a:t>
              </a:r>
              <a:b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</a:b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and Innovation </a:t>
              </a:r>
              <a:r>
                <a:rPr lang="it-IT" sz="1100" b="0" kern="1200" dirty="0" err="1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programme</a:t>
              </a:r>
              <a:r>
                <a:rPr lang="it-IT" sz="1100" b="0" kern="1200" dirty="0">
                  <a:solidFill>
                    <a:schemeClr val="bg1"/>
                  </a:solidFill>
                  <a:effectLst/>
                  <a:latin typeface="+mn-lt"/>
                  <a:ea typeface="+mn-ea"/>
                  <a:cs typeface="Calibri" panose="020F0502020204030204" pitchFamily="34" charset="0"/>
                </a:rPr>
                <a:t> under the Grant Agreement No 101103998</a:t>
              </a:r>
              <a:endParaRPr lang="en-GB" sz="1100" b="0" dirty="0">
                <a:solidFill>
                  <a:schemeClr val="bg1"/>
                </a:solidFill>
                <a:latin typeface="+mn-lt"/>
                <a:cs typeface="Calibri" panose="020F0502020204030204" pitchFamily="34" charset="0"/>
              </a:endParaRPr>
            </a:p>
          </p:txBody>
        </p:sp>
        <p:pic>
          <p:nvPicPr>
            <p:cNvPr id="8" name="Immagine 7" descr="EU_flag.jpg">
              <a:extLst>
                <a:ext uri="{FF2B5EF4-FFF2-40B4-BE49-F238E27FC236}">
                  <a16:creationId xmlns:a16="http://schemas.microsoft.com/office/drawing/2014/main" id="{81B6829E-EE46-11E9-5709-03EF490DF02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85724" y="5790274"/>
              <a:ext cx="634980" cy="419129"/>
            </a:xfrm>
            <a:prstGeom prst="rect">
              <a:avLst/>
            </a:prstGeom>
            <a:ln>
              <a:solidFill>
                <a:schemeClr val="bg1"/>
              </a:solidFill>
            </a:ln>
          </p:spPr>
        </p:pic>
      </p:grpSp>
      <p:pic>
        <p:nvPicPr>
          <p:cNvPr id="14" name="Elemento grafico 13">
            <a:extLst>
              <a:ext uri="{FF2B5EF4-FFF2-40B4-BE49-F238E27FC236}">
                <a16:creationId xmlns:a16="http://schemas.microsoft.com/office/drawing/2014/main" id="{9B311DB3-2E6E-A446-9BEC-82B7DDD1A89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92702" y="443391"/>
            <a:ext cx="4406588" cy="1163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58468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dark">
  <p:cSld name="1_Blank dark">
    <p:bg>
      <p:bgPr>
        <a:gradFill>
          <a:gsLst>
            <a:gs pos="0">
              <a:schemeClr val="accent2"/>
            </a:gs>
            <a:gs pos="100000">
              <a:schemeClr val="accent1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numero diapositiva 5">
            <a:extLst>
              <a:ext uri="{FF2B5EF4-FFF2-40B4-BE49-F238E27FC236}">
                <a16:creationId xmlns:a16="http://schemas.microsoft.com/office/drawing/2014/main" id="{65C803B4-9C58-EA02-F525-1E42055899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5130" y="6356351"/>
            <a:ext cx="526869" cy="501650"/>
          </a:xfrm>
          <a:prstGeom prst="rect">
            <a:avLst/>
          </a:prstGeom>
        </p:spPr>
        <p:txBody>
          <a:bodyPr vert="horz" lIns="0" tIns="0" rIns="108000" bIns="0" rtlCol="0" anchor="ctr"/>
          <a:lstStyle>
            <a:lvl1pPr algn="r">
              <a:defRPr sz="1000" b="1">
                <a:solidFill>
                  <a:schemeClr val="bg1"/>
                </a:solidFill>
              </a:defRPr>
            </a:lvl1pPr>
          </a:lstStyle>
          <a:p>
            <a:fld id="{1FFA4B92-604C-DF4A-82F5-53F7CAD89603}" type="slidenum">
              <a:rPr lang="en-GB" smtClean="0"/>
              <a:pPr/>
              <a:t>‹N›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585426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3FC117EF-B0AF-4F02-18E2-AB6B597DF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8855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GB" dirty="0"/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6DD9838-0D1D-D74A-54AF-8A5BE3D2B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693503"/>
            <a:ext cx="10515600" cy="34834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GB" dirty="0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3C23A0D0-DD2F-66FD-AF42-D2FAF591D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8377" y="6374675"/>
            <a:ext cx="683623" cy="471230"/>
          </a:xfrm>
          <a:prstGeom prst="rect">
            <a:avLst/>
          </a:prstGeom>
        </p:spPr>
        <p:txBody>
          <a:bodyPr vert="horz" lIns="91440" tIns="45720" rIns="180000" bIns="72000" rtlCol="0" anchor="ctr"/>
          <a:lstStyle>
            <a:lvl1pPr algn="r">
              <a:defRPr sz="1000" b="0" i="0">
                <a:solidFill>
                  <a:schemeClr val="tx1"/>
                </a:solidFill>
                <a:latin typeface="+mn-lt"/>
                <a:ea typeface="Inter" panose="020B0502030000000004" pitchFamily="34" charset="0"/>
              </a:defRPr>
            </a:lvl1pPr>
          </a:lstStyle>
          <a:p>
            <a:fld id="{89EE281A-F944-2A4E-ADD4-0BA89AF575CE}" type="slidenum">
              <a:rPr lang="it-IT" smtClean="0"/>
              <a:pPr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8225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2953F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FC6FB-E789-5265-2ECF-BA60BB1E5D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2">
            <a:extLst>
              <a:ext uri="{FF2B5EF4-FFF2-40B4-BE49-F238E27FC236}">
                <a16:creationId xmlns:a16="http://schemas.microsoft.com/office/drawing/2014/main" id="{8A8DB48E-0DD6-1C9F-7715-8047E1DEE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7" y="257308"/>
            <a:ext cx="12272972" cy="448086"/>
          </a:xfrm>
        </p:spPr>
        <p:txBody>
          <a:bodyPr/>
          <a:lstStyle/>
          <a:p>
            <a:pPr algn="ctr"/>
            <a:r>
              <a:rPr lang="en-GB" sz="3200" dirty="0"/>
              <a:t>Comfort Flexibility Service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DF29901A-7EEC-BA05-CC1A-92816E209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EE281A-F944-2A4E-ADD4-0BA89AF575CE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Franklin Gothic Book" panose="020B0503020102020204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Franklin Gothic Book" panose="020B0503020102020204"/>
              <a:cs typeface="+mn-cs"/>
            </a:endParaRPr>
          </a:p>
        </p:txBody>
      </p:sp>
      <p:sp>
        <p:nvSpPr>
          <p:cNvPr id="70" name="Rettangolo con angoli arrotondati 69">
            <a:extLst>
              <a:ext uri="{FF2B5EF4-FFF2-40B4-BE49-F238E27FC236}">
                <a16:creationId xmlns:a16="http://schemas.microsoft.com/office/drawing/2014/main" id="{18D02AE1-62D1-9E3C-310D-AD59363F8DB8}"/>
              </a:ext>
            </a:extLst>
          </p:cNvPr>
          <p:cNvSpPr/>
          <p:nvPr/>
        </p:nvSpPr>
        <p:spPr>
          <a:xfrm>
            <a:off x="4361575" y="3030828"/>
            <a:ext cx="1518336" cy="53713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Energy data</a:t>
            </a:r>
          </a:p>
        </p:txBody>
      </p:sp>
      <p:sp>
        <p:nvSpPr>
          <p:cNvPr id="71" name="Rettangolo con angoli arrotondati 70">
            <a:extLst>
              <a:ext uri="{FF2B5EF4-FFF2-40B4-BE49-F238E27FC236}">
                <a16:creationId xmlns:a16="http://schemas.microsoft.com/office/drawing/2014/main" id="{B8F9E3AB-4B40-6BA5-10A3-2128EACAE298}"/>
              </a:ext>
            </a:extLst>
          </p:cNvPr>
          <p:cNvSpPr/>
          <p:nvPr/>
        </p:nvSpPr>
        <p:spPr>
          <a:xfrm>
            <a:off x="281573" y="1493740"/>
            <a:ext cx="1463040" cy="90308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Input indoor &amp; environmental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data</a:t>
            </a:r>
          </a:p>
        </p:txBody>
      </p:sp>
      <p:sp>
        <p:nvSpPr>
          <p:cNvPr id="72" name="Rettangolo con angoli arrotondati 71">
            <a:extLst>
              <a:ext uri="{FF2B5EF4-FFF2-40B4-BE49-F238E27FC236}">
                <a16:creationId xmlns:a16="http://schemas.microsoft.com/office/drawing/2014/main" id="{8DAD8273-F708-8365-A3AC-129FB6CC3FBD}"/>
              </a:ext>
            </a:extLst>
          </p:cNvPr>
          <p:cNvSpPr/>
          <p:nvPr/>
        </p:nvSpPr>
        <p:spPr>
          <a:xfrm>
            <a:off x="8584264" y="3618645"/>
            <a:ext cx="1399102" cy="36933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Grid requests</a:t>
            </a:r>
          </a:p>
        </p:txBody>
      </p:sp>
      <p:sp>
        <p:nvSpPr>
          <p:cNvPr id="73" name="Rettangolo con angoli arrotondati 72">
            <a:extLst>
              <a:ext uri="{FF2B5EF4-FFF2-40B4-BE49-F238E27FC236}">
                <a16:creationId xmlns:a16="http://schemas.microsoft.com/office/drawing/2014/main" id="{909C4806-A4C2-EDC5-06A0-882BF41DF01B}"/>
              </a:ext>
            </a:extLst>
          </p:cNvPr>
          <p:cNvSpPr/>
          <p:nvPr/>
        </p:nvSpPr>
        <p:spPr>
          <a:xfrm>
            <a:off x="2335191" y="1576776"/>
            <a:ext cx="1463040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 model</a:t>
            </a:r>
          </a:p>
        </p:txBody>
      </p:sp>
      <p:sp>
        <p:nvSpPr>
          <p:cNvPr id="74" name="Rettangolo con angoli arrotondati 73">
            <a:extLst>
              <a:ext uri="{FF2B5EF4-FFF2-40B4-BE49-F238E27FC236}">
                <a16:creationId xmlns:a16="http://schemas.microsoft.com/office/drawing/2014/main" id="{42B83450-8B3A-A379-3A6C-DF813D4694CF}"/>
              </a:ext>
            </a:extLst>
          </p:cNvPr>
          <p:cNvSpPr/>
          <p:nvPr/>
        </p:nvSpPr>
        <p:spPr>
          <a:xfrm>
            <a:off x="6541946" y="1555605"/>
            <a:ext cx="1463040" cy="148588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Comfort-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based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flexibility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outcomes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5" name="Rettangolo con angoli arrotondati 74">
            <a:extLst>
              <a:ext uri="{FF2B5EF4-FFF2-40B4-BE49-F238E27FC236}">
                <a16:creationId xmlns:a16="http://schemas.microsoft.com/office/drawing/2014/main" id="{C62B3F82-D3BD-5756-5861-6463B813D7B4}"/>
              </a:ext>
            </a:extLst>
          </p:cNvPr>
          <p:cNvSpPr/>
          <p:nvPr/>
        </p:nvSpPr>
        <p:spPr>
          <a:xfrm>
            <a:off x="8656717" y="1595058"/>
            <a:ext cx="1269761" cy="114857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6" name="Rettangolo con angoli arrotondati 75">
            <a:extLst>
              <a:ext uri="{FF2B5EF4-FFF2-40B4-BE49-F238E27FC236}">
                <a16:creationId xmlns:a16="http://schemas.microsoft.com/office/drawing/2014/main" id="{BE83FC5E-2191-9759-210F-6438EEAE2C1F}"/>
              </a:ext>
            </a:extLst>
          </p:cNvPr>
          <p:cNvSpPr/>
          <p:nvPr/>
        </p:nvSpPr>
        <p:spPr>
          <a:xfrm>
            <a:off x="10608197" y="1595057"/>
            <a:ext cx="1347766" cy="1898867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Optimal trade-off solution between comfort &amp; energy </a:t>
            </a:r>
          </a:p>
        </p:txBody>
      </p:sp>
      <p:pic>
        <p:nvPicPr>
          <p:cNvPr id="77" name="Immagine 76" descr="Immagine che contiene Elementi grafici, Carattere, linea, design&#10;&#10;Descrizione generata automaticamente">
            <a:extLst>
              <a:ext uri="{FF2B5EF4-FFF2-40B4-BE49-F238E27FC236}">
                <a16:creationId xmlns:a16="http://schemas.microsoft.com/office/drawing/2014/main" id="{50A72128-FF43-291D-759A-501FE292DC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5069" y="2474319"/>
            <a:ext cx="812698" cy="812698"/>
          </a:xfrm>
          <a:prstGeom prst="rect">
            <a:avLst/>
          </a:prstGeom>
        </p:spPr>
      </p:pic>
      <p:pic>
        <p:nvPicPr>
          <p:cNvPr id="78" name="Immagine 77">
            <a:extLst>
              <a:ext uri="{FF2B5EF4-FFF2-40B4-BE49-F238E27FC236}">
                <a16:creationId xmlns:a16="http://schemas.microsoft.com/office/drawing/2014/main" id="{FEFC86E2-C4CC-EC70-5E01-6198A197676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677" y="2941637"/>
            <a:ext cx="340392" cy="405543"/>
          </a:xfrm>
          <a:prstGeom prst="rect">
            <a:avLst/>
          </a:prstGeom>
        </p:spPr>
      </p:pic>
      <p:pic>
        <p:nvPicPr>
          <p:cNvPr id="79" name="Immagine 78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6E976231-A9CB-704C-281A-CC27B40B67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98" y="2955916"/>
            <a:ext cx="274374" cy="274374"/>
          </a:xfrm>
          <a:prstGeom prst="rect">
            <a:avLst/>
          </a:prstGeom>
        </p:spPr>
      </p:pic>
      <p:pic>
        <p:nvPicPr>
          <p:cNvPr id="80" name="Immagine 79" descr="Immagine che contiene nero, oscurità&#10;&#10;Descrizione generata automaticamente">
            <a:extLst>
              <a:ext uri="{FF2B5EF4-FFF2-40B4-BE49-F238E27FC236}">
                <a16:creationId xmlns:a16="http://schemas.microsoft.com/office/drawing/2014/main" id="{AE2F9E47-C81E-900D-1A8D-A1D54D2FC0A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5100" y="3301652"/>
            <a:ext cx="287808" cy="301230"/>
          </a:xfrm>
          <a:prstGeom prst="rect">
            <a:avLst/>
          </a:prstGeom>
        </p:spPr>
      </p:pic>
      <p:pic>
        <p:nvPicPr>
          <p:cNvPr id="81" name="Immagine 80">
            <a:extLst>
              <a:ext uri="{FF2B5EF4-FFF2-40B4-BE49-F238E27FC236}">
                <a16:creationId xmlns:a16="http://schemas.microsoft.com/office/drawing/2014/main" id="{3693DBC6-6D5B-DF78-6E22-84D061A968C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847453" y="3493924"/>
            <a:ext cx="312543" cy="312543"/>
          </a:xfrm>
          <a:prstGeom prst="rect">
            <a:avLst/>
          </a:prstGeom>
        </p:spPr>
      </p:pic>
      <p:pic>
        <p:nvPicPr>
          <p:cNvPr id="82" name="Immagine 81" descr="Immagine che contiene cerchio, cartone animato, clipart, Elementi grafici&#10;&#10;Descrizione generata automaticamente">
            <a:extLst>
              <a:ext uri="{FF2B5EF4-FFF2-40B4-BE49-F238E27FC236}">
                <a16:creationId xmlns:a16="http://schemas.microsoft.com/office/drawing/2014/main" id="{202519FB-8923-8DF0-EBDA-FC2A0BA2990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408931" y="3372542"/>
            <a:ext cx="302099" cy="302099"/>
          </a:xfrm>
          <a:prstGeom prst="rect">
            <a:avLst/>
          </a:prstGeom>
        </p:spPr>
      </p:pic>
      <p:pic>
        <p:nvPicPr>
          <p:cNvPr id="83" name="Immagine 82" descr="Immagine che contiene cartone animato&#10;&#10;Descrizione generata automaticamente">
            <a:extLst>
              <a:ext uri="{FF2B5EF4-FFF2-40B4-BE49-F238E27FC236}">
                <a16:creationId xmlns:a16="http://schemas.microsoft.com/office/drawing/2014/main" id="{859DD81A-7114-39AA-52E6-E3CA3E492C8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01379" y="1762211"/>
            <a:ext cx="764871" cy="764871"/>
          </a:xfrm>
          <a:prstGeom prst="rect">
            <a:avLst/>
          </a:prstGeom>
        </p:spPr>
      </p:pic>
      <p:sp>
        <p:nvSpPr>
          <p:cNvPr id="85" name="Freccia a destra 84">
            <a:extLst>
              <a:ext uri="{FF2B5EF4-FFF2-40B4-BE49-F238E27FC236}">
                <a16:creationId xmlns:a16="http://schemas.microsoft.com/office/drawing/2014/main" id="{F6D3AF91-4134-0863-7270-66F2B45FAFDE}"/>
              </a:ext>
            </a:extLst>
          </p:cNvPr>
          <p:cNvSpPr/>
          <p:nvPr/>
        </p:nvSpPr>
        <p:spPr>
          <a:xfrm rot="16200000">
            <a:off x="9097397" y="3029147"/>
            <a:ext cx="388401" cy="286932"/>
          </a:xfrm>
          <a:prstGeom prst="rightArrow">
            <a:avLst>
              <a:gd name="adj1" fmla="val 50000"/>
              <a:gd name="adj2" fmla="val 43785"/>
            </a:avLst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6" name="Freccia a destra 85">
            <a:extLst>
              <a:ext uri="{FF2B5EF4-FFF2-40B4-BE49-F238E27FC236}">
                <a16:creationId xmlns:a16="http://schemas.microsoft.com/office/drawing/2014/main" id="{0693BF59-99AC-E37E-8437-6551DC99D044}"/>
              </a:ext>
            </a:extLst>
          </p:cNvPr>
          <p:cNvSpPr/>
          <p:nvPr/>
        </p:nvSpPr>
        <p:spPr>
          <a:xfrm>
            <a:off x="10190522" y="1838858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7" name="Freccia a destra 86">
            <a:extLst>
              <a:ext uri="{FF2B5EF4-FFF2-40B4-BE49-F238E27FC236}">
                <a16:creationId xmlns:a16="http://schemas.microsoft.com/office/drawing/2014/main" id="{9DF99EF9-7965-CF36-920C-F3D3990DC2ED}"/>
              </a:ext>
            </a:extLst>
          </p:cNvPr>
          <p:cNvSpPr/>
          <p:nvPr/>
        </p:nvSpPr>
        <p:spPr>
          <a:xfrm>
            <a:off x="8081455" y="1825537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8" name="Freccia a destra 87">
            <a:extLst>
              <a:ext uri="{FF2B5EF4-FFF2-40B4-BE49-F238E27FC236}">
                <a16:creationId xmlns:a16="http://schemas.microsoft.com/office/drawing/2014/main" id="{31A282E7-F2D3-AA14-1036-33BA6631CCB2}"/>
              </a:ext>
            </a:extLst>
          </p:cNvPr>
          <p:cNvSpPr/>
          <p:nvPr/>
        </p:nvSpPr>
        <p:spPr>
          <a:xfrm>
            <a:off x="4028259" y="1837148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9" name="Freccia a destra 88">
            <a:extLst>
              <a:ext uri="{FF2B5EF4-FFF2-40B4-BE49-F238E27FC236}">
                <a16:creationId xmlns:a16="http://schemas.microsoft.com/office/drawing/2014/main" id="{E43A3076-4052-0C25-BD68-FB63E4353350}"/>
              </a:ext>
            </a:extLst>
          </p:cNvPr>
          <p:cNvSpPr/>
          <p:nvPr/>
        </p:nvSpPr>
        <p:spPr>
          <a:xfrm rot="16200000">
            <a:off x="5081795" y="2562714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0" name="Rettangolo con angoli arrotondati 89">
            <a:extLst>
              <a:ext uri="{FF2B5EF4-FFF2-40B4-BE49-F238E27FC236}">
                <a16:creationId xmlns:a16="http://schemas.microsoft.com/office/drawing/2014/main" id="{6441D39C-4224-9A99-3C0E-F432A54C9A83}"/>
              </a:ext>
            </a:extLst>
          </p:cNvPr>
          <p:cNvSpPr/>
          <p:nvPr/>
        </p:nvSpPr>
        <p:spPr>
          <a:xfrm>
            <a:off x="89535" y="1020344"/>
            <a:ext cx="12012930" cy="3296633"/>
          </a:xfrm>
          <a:prstGeom prst="roundRect">
            <a:avLst/>
          </a:prstGeom>
          <a:noFill/>
          <a:ln w="38100">
            <a:solidFill>
              <a:schemeClr val="tx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1" name="Rettangolo con angoli arrotondati 90">
            <a:extLst>
              <a:ext uri="{FF2B5EF4-FFF2-40B4-BE49-F238E27FC236}">
                <a16:creationId xmlns:a16="http://schemas.microsoft.com/office/drawing/2014/main" id="{5E5C4F95-3528-9FCF-7430-154767AC3FC3}"/>
              </a:ext>
            </a:extLst>
          </p:cNvPr>
          <p:cNvSpPr/>
          <p:nvPr/>
        </p:nvSpPr>
        <p:spPr>
          <a:xfrm>
            <a:off x="4597250" y="1576009"/>
            <a:ext cx="1308052" cy="73152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Optimization algorithm</a:t>
            </a:r>
          </a:p>
        </p:txBody>
      </p:sp>
      <p:sp>
        <p:nvSpPr>
          <p:cNvPr id="92" name="Freccia a destra 91">
            <a:extLst>
              <a:ext uri="{FF2B5EF4-FFF2-40B4-BE49-F238E27FC236}">
                <a16:creationId xmlns:a16="http://schemas.microsoft.com/office/drawing/2014/main" id="{C9F2E4C0-0F30-3FF5-907B-7C6EE921B679}"/>
              </a:ext>
            </a:extLst>
          </p:cNvPr>
          <p:cNvSpPr/>
          <p:nvPr/>
        </p:nvSpPr>
        <p:spPr>
          <a:xfrm>
            <a:off x="6135896" y="1832506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3" name="Rettangolo con angoli arrotondati 92">
            <a:extLst>
              <a:ext uri="{FF2B5EF4-FFF2-40B4-BE49-F238E27FC236}">
                <a16:creationId xmlns:a16="http://schemas.microsoft.com/office/drawing/2014/main" id="{0E033FF9-24EC-C53E-F23E-5DFFA611A864}"/>
              </a:ext>
            </a:extLst>
          </p:cNvPr>
          <p:cNvSpPr/>
          <p:nvPr/>
        </p:nvSpPr>
        <p:spPr>
          <a:xfrm>
            <a:off x="2187999" y="1437805"/>
            <a:ext cx="3861511" cy="1001017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4" name="CasellaDiTesto 93">
            <a:extLst>
              <a:ext uri="{FF2B5EF4-FFF2-40B4-BE49-F238E27FC236}">
                <a16:creationId xmlns:a16="http://schemas.microsoft.com/office/drawing/2014/main" id="{9711621F-528B-67FD-D0FD-A389BBF03498}"/>
              </a:ext>
            </a:extLst>
          </p:cNvPr>
          <p:cNvSpPr txBox="1"/>
          <p:nvPr/>
        </p:nvSpPr>
        <p:spPr>
          <a:xfrm>
            <a:off x="3501411" y="1091694"/>
            <a:ext cx="25234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 flexibility model</a:t>
            </a:r>
          </a:p>
        </p:txBody>
      </p:sp>
      <p:sp>
        <p:nvSpPr>
          <p:cNvPr id="95" name="Rettangolo con angoli arrotondati 94">
            <a:extLst>
              <a:ext uri="{FF2B5EF4-FFF2-40B4-BE49-F238E27FC236}">
                <a16:creationId xmlns:a16="http://schemas.microsoft.com/office/drawing/2014/main" id="{7A09FD63-03A7-5E18-CA95-F4A4BAC627DE}"/>
              </a:ext>
            </a:extLst>
          </p:cNvPr>
          <p:cNvSpPr/>
          <p:nvPr/>
        </p:nvSpPr>
        <p:spPr>
          <a:xfrm rot="5400000">
            <a:off x="-416780" y="1862516"/>
            <a:ext cx="2913256" cy="1665532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6" name="Rettangolo con angoli arrotondati 95">
            <a:extLst>
              <a:ext uri="{FF2B5EF4-FFF2-40B4-BE49-F238E27FC236}">
                <a16:creationId xmlns:a16="http://schemas.microsoft.com/office/drawing/2014/main" id="{A1D30C18-A338-CE3C-3651-F88D06FD9C53}"/>
              </a:ext>
            </a:extLst>
          </p:cNvPr>
          <p:cNvSpPr/>
          <p:nvPr/>
        </p:nvSpPr>
        <p:spPr>
          <a:xfrm>
            <a:off x="8496888" y="1476364"/>
            <a:ext cx="1574094" cy="2675546"/>
          </a:xfrm>
          <a:prstGeom prst="roundRect">
            <a:avLst/>
          </a:prstGeom>
          <a:noFill/>
          <a:ln w="28575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97" name="CasellaDiTesto 96">
            <a:extLst>
              <a:ext uri="{FF2B5EF4-FFF2-40B4-BE49-F238E27FC236}">
                <a16:creationId xmlns:a16="http://schemas.microsoft.com/office/drawing/2014/main" id="{3FD01CFD-D96E-AC4A-941A-78A19DE24D4E}"/>
              </a:ext>
            </a:extLst>
          </p:cNvPr>
          <p:cNvSpPr txBox="1"/>
          <p:nvPr/>
        </p:nvSpPr>
        <p:spPr>
          <a:xfrm>
            <a:off x="302880" y="3793061"/>
            <a:ext cx="15299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Building level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</a:p>
        </p:txBody>
      </p:sp>
      <p:sp>
        <p:nvSpPr>
          <p:cNvPr id="98" name="CasellaDiTesto 97">
            <a:extLst>
              <a:ext uri="{FF2B5EF4-FFF2-40B4-BE49-F238E27FC236}">
                <a16:creationId xmlns:a16="http://schemas.microsoft.com/office/drawing/2014/main" id="{D62468FB-14D1-E0EA-A1F1-E73D4052AF56}"/>
              </a:ext>
            </a:extLst>
          </p:cNvPr>
          <p:cNvSpPr txBox="1"/>
          <p:nvPr/>
        </p:nvSpPr>
        <p:spPr>
          <a:xfrm>
            <a:off x="8430639" y="1132727"/>
            <a:ext cx="17331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FFBD00">
                    <a:lumMod val="75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Decision phase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FFBD00">
                    <a:lumMod val="75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</a:p>
        </p:txBody>
      </p:sp>
      <p:sp>
        <p:nvSpPr>
          <p:cNvPr id="99" name="Rettangolo con angoli arrotondati 98">
            <a:extLst>
              <a:ext uri="{FF2B5EF4-FFF2-40B4-BE49-F238E27FC236}">
                <a16:creationId xmlns:a16="http://schemas.microsoft.com/office/drawing/2014/main" id="{055E7AF9-44B1-BFF7-E864-353A2100101E}"/>
              </a:ext>
            </a:extLst>
          </p:cNvPr>
          <p:cNvSpPr/>
          <p:nvPr/>
        </p:nvSpPr>
        <p:spPr>
          <a:xfrm>
            <a:off x="3501411" y="2888131"/>
            <a:ext cx="2640459" cy="813483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00" name="CasellaDiTesto 99">
            <a:extLst>
              <a:ext uri="{FF2B5EF4-FFF2-40B4-BE49-F238E27FC236}">
                <a16:creationId xmlns:a16="http://schemas.microsoft.com/office/drawing/2014/main" id="{64DCE079-185C-2A94-154A-1595BFD1B9A3}"/>
              </a:ext>
            </a:extLst>
          </p:cNvPr>
          <p:cNvSpPr txBox="1"/>
          <p:nvPr/>
        </p:nvSpPr>
        <p:spPr>
          <a:xfrm>
            <a:off x="4588966" y="3659645"/>
            <a:ext cx="15490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Building level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</a:p>
        </p:txBody>
      </p:sp>
      <p:pic>
        <p:nvPicPr>
          <p:cNvPr id="5" name="Immagine 4" descr="Immagine che contiene Elementi grafici, cerchio, simbolo, Policromia&#10;&#10;Il contenuto generato dall'IA potrebbe non essere corretto.">
            <a:extLst>
              <a:ext uri="{FF2B5EF4-FFF2-40B4-BE49-F238E27FC236}">
                <a16:creationId xmlns:a16="http://schemas.microsoft.com/office/drawing/2014/main" id="{36FFF20A-9971-E1D3-5B7A-844E50843A5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1043" y="3006883"/>
            <a:ext cx="575978" cy="575978"/>
          </a:xfrm>
          <a:prstGeom prst="rect">
            <a:avLst/>
          </a:prstGeom>
        </p:spPr>
      </p:pic>
      <p:sp>
        <p:nvSpPr>
          <p:cNvPr id="84" name="Freccia a destra 83">
            <a:extLst>
              <a:ext uri="{FF2B5EF4-FFF2-40B4-BE49-F238E27FC236}">
                <a16:creationId xmlns:a16="http://schemas.microsoft.com/office/drawing/2014/main" id="{B2609942-A3DD-F2BD-C363-B89B7150CCE0}"/>
              </a:ext>
            </a:extLst>
          </p:cNvPr>
          <p:cNvSpPr/>
          <p:nvPr/>
        </p:nvSpPr>
        <p:spPr>
          <a:xfrm>
            <a:off x="1822672" y="1838858"/>
            <a:ext cx="338963" cy="225552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25E13F50-D693-728E-59CD-CF664CA3F656}"/>
              </a:ext>
            </a:extLst>
          </p:cNvPr>
          <p:cNvSpPr txBox="1"/>
          <p:nvPr/>
        </p:nvSpPr>
        <p:spPr>
          <a:xfrm>
            <a:off x="8963152" y="705394"/>
            <a:ext cx="26849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>
                    <a:lumMod val="60000"/>
                    <a:lumOff val="40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>
                    <a:lumMod val="60000"/>
                    <a:lumOff val="40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Flexibility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>
                    <a:lumMod val="60000"/>
                    <a:lumOff val="40000"/>
                  </a:srgbClr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Service</a:t>
            </a:r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53FFBC6A-D310-4BEE-15B5-3178F25E777A}"/>
              </a:ext>
            </a:extLst>
          </p:cNvPr>
          <p:cNvSpPr txBox="1"/>
          <p:nvPr/>
        </p:nvSpPr>
        <p:spPr>
          <a:xfrm>
            <a:off x="486851" y="4526129"/>
            <a:ext cx="371017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Objective:</a:t>
            </a:r>
          </a:p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Develop a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human-centric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demand response service that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prioritizes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people </a:t>
            </a: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while enhancing building energy performance through personalized comfort flexibility actions for the next day.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38464033-5056-58E5-B2CD-E48D08B33B6A}"/>
              </a:ext>
            </a:extLst>
          </p:cNvPr>
          <p:cNvSpPr txBox="1"/>
          <p:nvPr/>
        </p:nvSpPr>
        <p:spPr>
          <a:xfrm>
            <a:off x="6345473" y="4763786"/>
            <a:ext cx="561049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The service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will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propose to the building manager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three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different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solutions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for the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next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day: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Optimal comfort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minimizing energy consumption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Acceptable comfort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minimizing energy consumption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Minimization of energy consumption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953F3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without prioritizing comfort</a:t>
            </a:r>
            <a:endParaRPr kumimoji="0" lang="it-IT" sz="1600" b="1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Each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solution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always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guarantees</a:t>
            </a:r>
            <a:r>
              <a:rPr kumimoji="0" lang="it-IT" sz="16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comfort.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8" name="Freccia a destra 7">
            <a:extLst>
              <a:ext uri="{FF2B5EF4-FFF2-40B4-BE49-F238E27FC236}">
                <a16:creationId xmlns:a16="http://schemas.microsoft.com/office/drawing/2014/main" id="{9F0FB3EB-BB1D-AC9D-A479-9E488191D4B8}"/>
              </a:ext>
            </a:extLst>
          </p:cNvPr>
          <p:cNvSpPr/>
          <p:nvPr/>
        </p:nvSpPr>
        <p:spPr>
          <a:xfrm>
            <a:off x="4817550" y="5147050"/>
            <a:ext cx="907394" cy="331704"/>
          </a:xfrm>
          <a:prstGeom prst="rightArrow">
            <a:avLst/>
          </a:prstGeom>
          <a:solidFill>
            <a:schemeClr val="tx1">
              <a:lumMod val="60000"/>
              <a:lumOff val="40000"/>
            </a:schemeClr>
          </a:solidFill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29509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A271F-6B69-1331-C4B0-BA89426722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ttangolo con angoli arrotondati 47">
            <a:extLst>
              <a:ext uri="{FF2B5EF4-FFF2-40B4-BE49-F238E27FC236}">
                <a16:creationId xmlns:a16="http://schemas.microsoft.com/office/drawing/2014/main" id="{511DB19B-B94F-FD08-A77A-BA733A4AB538}"/>
              </a:ext>
            </a:extLst>
          </p:cNvPr>
          <p:cNvSpPr/>
          <p:nvPr/>
        </p:nvSpPr>
        <p:spPr>
          <a:xfrm>
            <a:off x="5458980" y="5420223"/>
            <a:ext cx="1677451" cy="1286582"/>
          </a:xfrm>
          <a:prstGeom prst="roundRect">
            <a:avLst/>
          </a:prstGeom>
          <a:noFill/>
          <a:ln w="28575"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3B83522C-CA4A-0BBE-BCC9-A9372697F5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69831" y="6486755"/>
            <a:ext cx="683623" cy="698937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9EE281A-F944-2A4E-ADD4-0BA89AF575CE}" type="slidenum">
              <a:rPr kumimoji="0" lang="it-IT" sz="12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65000"/>
                  </a:srgbClr>
                </a:solidFill>
                <a:effectLst/>
                <a:uLnTx/>
                <a:uFillTx/>
                <a:latin typeface="Franklin Gothic Book" panose="020B0503020102020204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it-IT" sz="12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65000"/>
                </a:srgbClr>
              </a:solidFill>
              <a:effectLst/>
              <a:uLnTx/>
              <a:uFillTx/>
              <a:latin typeface="Franklin Gothic Book" panose="020B0503020102020204"/>
              <a:cs typeface="+mn-cs"/>
            </a:endParaRPr>
          </a:p>
        </p:txBody>
      </p:sp>
      <p:sp>
        <p:nvSpPr>
          <p:cNvPr id="5" name="Titolo 2">
            <a:extLst>
              <a:ext uri="{FF2B5EF4-FFF2-40B4-BE49-F238E27FC236}">
                <a16:creationId xmlns:a16="http://schemas.microsoft.com/office/drawing/2014/main" id="{29618A20-9938-025C-3EC5-BBC32FDF67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987" y="257308"/>
            <a:ext cx="12272972" cy="448086"/>
          </a:xfrm>
        </p:spPr>
        <p:txBody>
          <a:bodyPr/>
          <a:lstStyle/>
          <a:p>
            <a:pPr algn="ctr"/>
            <a:r>
              <a:rPr lang="en-GB" sz="3200" dirty="0"/>
              <a:t>Comfort Flexibility Service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ADC37005-57A1-CCA7-95BB-09C849A68225}"/>
              </a:ext>
            </a:extLst>
          </p:cNvPr>
          <p:cNvSpPr txBox="1"/>
          <p:nvPr/>
        </p:nvSpPr>
        <p:spPr>
          <a:xfrm>
            <a:off x="1639835" y="898392"/>
            <a:ext cx="883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 this service,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AI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plays a key role, particularly in predicting two fundamental parameters: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4BF5EF3C-0D34-680C-CB33-5668F61A4F32}"/>
              </a:ext>
            </a:extLst>
          </p:cNvPr>
          <p:cNvGrpSpPr/>
          <p:nvPr/>
        </p:nvGrpSpPr>
        <p:grpSpPr>
          <a:xfrm>
            <a:off x="3325689" y="1383010"/>
            <a:ext cx="5574149" cy="610382"/>
            <a:chOff x="2918687" y="1818118"/>
            <a:chExt cx="5574149" cy="760990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BB42DD79-BDC5-D71F-4F0D-D24288F93350}"/>
                </a:ext>
              </a:extLst>
            </p:cNvPr>
            <p:cNvSpPr/>
            <p:nvPr/>
          </p:nvSpPr>
          <p:spPr>
            <a:xfrm>
              <a:off x="3011055" y="2050470"/>
              <a:ext cx="5394036" cy="11083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endParaRPr>
            </a:p>
          </p:txBody>
        </p:sp>
        <p:sp>
          <p:nvSpPr>
            <p:cNvPr id="9" name="Freccia in su 8">
              <a:extLst>
                <a:ext uri="{FF2B5EF4-FFF2-40B4-BE49-F238E27FC236}">
                  <a16:creationId xmlns:a16="http://schemas.microsoft.com/office/drawing/2014/main" id="{B42D694F-FF9F-8358-E21A-8EB36B949781}"/>
                </a:ext>
              </a:extLst>
            </p:cNvPr>
            <p:cNvSpPr/>
            <p:nvPr/>
          </p:nvSpPr>
          <p:spPr>
            <a:xfrm rot="10800000">
              <a:off x="2918687" y="2050470"/>
              <a:ext cx="193967" cy="528637"/>
            </a:xfrm>
            <a:prstGeom prst="upArrow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endParaRPr>
            </a:p>
          </p:txBody>
        </p:sp>
        <p:sp>
          <p:nvSpPr>
            <p:cNvPr id="10" name="Freccia in su 9">
              <a:extLst>
                <a:ext uri="{FF2B5EF4-FFF2-40B4-BE49-F238E27FC236}">
                  <a16:creationId xmlns:a16="http://schemas.microsoft.com/office/drawing/2014/main" id="{E63F9451-D577-EFB3-2436-086465856F9C}"/>
                </a:ext>
              </a:extLst>
            </p:cNvPr>
            <p:cNvSpPr/>
            <p:nvPr/>
          </p:nvSpPr>
          <p:spPr>
            <a:xfrm rot="10800000">
              <a:off x="8298869" y="2050471"/>
              <a:ext cx="193967" cy="528637"/>
            </a:xfrm>
            <a:prstGeom prst="upArrow">
              <a:avLst/>
            </a:prstGeom>
            <a:solidFill>
              <a:schemeClr val="tx1">
                <a:lumMod val="40000"/>
                <a:lumOff val="60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5D076AD5-B840-D21E-2322-03315D052D86}"/>
                </a:ext>
              </a:extLst>
            </p:cNvPr>
            <p:cNvSpPr/>
            <p:nvPr/>
          </p:nvSpPr>
          <p:spPr>
            <a:xfrm rot="5400000">
              <a:off x="5534889" y="1931262"/>
              <a:ext cx="337127" cy="110839"/>
            </a:xfrm>
            <a:prstGeom prst="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tx1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it-IT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endParaRPr>
            </a:p>
          </p:txBody>
        </p:sp>
      </p:grp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D7BCC999-2276-DBD7-1FA6-E8675E52F4BC}"/>
              </a:ext>
            </a:extLst>
          </p:cNvPr>
          <p:cNvSpPr txBox="1"/>
          <p:nvPr/>
        </p:nvSpPr>
        <p:spPr>
          <a:xfrm>
            <a:off x="1546117" y="2011832"/>
            <a:ext cx="37438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Energy </a:t>
            </a:r>
            <a:r>
              <a:rPr kumimoji="0" lang="it-IT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consumption</a:t>
            </a: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/production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provided by an external partner involved in the Dedalus project.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2BC2D331-16B5-4039-DF5A-A0D43C4C7576}"/>
              </a:ext>
            </a:extLst>
          </p:cNvPr>
          <p:cNvSpPr txBox="1"/>
          <p:nvPr/>
        </p:nvSpPr>
        <p:spPr>
          <a:xfrm>
            <a:off x="7519880" y="2003236"/>
            <a:ext cx="30231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Thermal comfort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assess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through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Thermal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Sensation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Vote (TSV).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1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0962DF7-3BCD-3187-B5C2-1399BFDBA904}"/>
              </a:ext>
            </a:extLst>
          </p:cNvPr>
          <p:cNvSpPr txBox="1"/>
          <p:nvPr/>
        </p:nvSpPr>
        <p:spPr>
          <a:xfrm>
            <a:off x="458724" y="3247069"/>
            <a:ext cx="1127455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Initially, a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machine learning model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is trained to associate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TSV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with internal environmental conditions and user feedback (TSV). Once trained, the model can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predict the TSV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for the following day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based solely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on historical data.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Then the 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optimization model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is applied (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Pareto efficiency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-based approach) which generates three alternative recommendations. Each of these ensure user comfort during DR events.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7" name="Rettangolo con angoli arrotondati 16">
            <a:extLst>
              <a:ext uri="{FF2B5EF4-FFF2-40B4-BE49-F238E27FC236}">
                <a16:creationId xmlns:a16="http://schemas.microsoft.com/office/drawing/2014/main" id="{CA89BFDD-80ED-F226-8F24-27B78E167AC3}"/>
              </a:ext>
            </a:extLst>
          </p:cNvPr>
          <p:cNvSpPr/>
          <p:nvPr/>
        </p:nvSpPr>
        <p:spPr>
          <a:xfrm>
            <a:off x="2216015" y="5021151"/>
            <a:ext cx="2931595" cy="40924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LSTM+ML</a:t>
            </a:r>
          </a:p>
        </p:txBody>
      </p:sp>
      <p:sp>
        <p:nvSpPr>
          <p:cNvPr id="19" name="Rettangolo con angoli arrotondati 18">
            <a:extLst>
              <a:ext uri="{FF2B5EF4-FFF2-40B4-BE49-F238E27FC236}">
                <a16:creationId xmlns:a16="http://schemas.microsoft.com/office/drawing/2014/main" id="{B57BBEAA-799A-61A4-BFF2-FE7AC42A66F9}"/>
              </a:ext>
            </a:extLst>
          </p:cNvPr>
          <p:cNvSpPr/>
          <p:nvPr/>
        </p:nvSpPr>
        <p:spPr>
          <a:xfrm>
            <a:off x="5533584" y="6043906"/>
            <a:ext cx="1463040" cy="44850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Energy </a:t>
            </a:r>
            <a:r>
              <a:rPr kumimoji="0" lang="it-IT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forecasted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for the </a:t>
            </a:r>
            <a:r>
              <a:rPr kumimoji="0" lang="it-IT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next</a:t>
            </a: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day</a:t>
            </a:r>
          </a:p>
        </p:txBody>
      </p:sp>
      <p:sp>
        <p:nvSpPr>
          <p:cNvPr id="20" name="Rettangolo con angoli arrotondati 19">
            <a:extLst>
              <a:ext uri="{FF2B5EF4-FFF2-40B4-BE49-F238E27FC236}">
                <a16:creationId xmlns:a16="http://schemas.microsoft.com/office/drawing/2014/main" id="{E97F9919-82B8-2635-6825-8D8AD7C024B8}"/>
              </a:ext>
            </a:extLst>
          </p:cNvPr>
          <p:cNvSpPr/>
          <p:nvPr/>
        </p:nvSpPr>
        <p:spPr>
          <a:xfrm>
            <a:off x="7590209" y="5590992"/>
            <a:ext cx="1463040" cy="69223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Optimization</a:t>
            </a:r>
            <a:endParaRPr kumimoji="0" lang="it-IT" sz="16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algorithm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</a:p>
        </p:txBody>
      </p:sp>
      <p:sp>
        <p:nvSpPr>
          <p:cNvPr id="21" name="Rettangolo con angoli arrotondati 20">
            <a:extLst>
              <a:ext uri="{FF2B5EF4-FFF2-40B4-BE49-F238E27FC236}">
                <a16:creationId xmlns:a16="http://schemas.microsoft.com/office/drawing/2014/main" id="{009306A5-5C7D-FDFB-57BC-72A3121000D9}"/>
              </a:ext>
            </a:extLst>
          </p:cNvPr>
          <p:cNvSpPr/>
          <p:nvPr/>
        </p:nvSpPr>
        <p:spPr>
          <a:xfrm>
            <a:off x="9678971" y="5277527"/>
            <a:ext cx="1832671" cy="1285768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Comfort-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based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flexibility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reccomendations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for the </a:t>
            </a:r>
            <a:r>
              <a:rPr kumimoji="0" lang="it-IT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next</a:t>
            </a:r>
            <a:r>
              <a:rPr kumimoji="0" lang="it-IT" sz="16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day</a:t>
            </a:r>
          </a:p>
        </p:txBody>
      </p:sp>
      <p:sp>
        <p:nvSpPr>
          <p:cNvPr id="22" name="CasellaDiTesto 21">
            <a:extLst>
              <a:ext uri="{FF2B5EF4-FFF2-40B4-BE49-F238E27FC236}">
                <a16:creationId xmlns:a16="http://schemas.microsoft.com/office/drawing/2014/main" id="{3BA00B5B-C48E-DA10-2C2B-C2EE7D00CAF5}"/>
              </a:ext>
            </a:extLst>
          </p:cNvPr>
          <p:cNvSpPr txBox="1"/>
          <p:nvPr/>
        </p:nvSpPr>
        <p:spPr>
          <a:xfrm>
            <a:off x="155363" y="4943692"/>
            <a:ext cx="1604184" cy="815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Historical</a:t>
            </a:r>
            <a:r>
              <a:rPr kumimoji="0" lang="it-IT" sz="14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dataset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</a:t>
            </a: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out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,T</a:t>
            </a:r>
            <a:r>
              <a:rPr kumimoji="0" lang="it-IT" sz="9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,RH,CO</a:t>
            </a:r>
            <a:r>
              <a:rPr kumimoji="0" lang="it-IT" sz="8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 hour, day of the week,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is_weekend</a:t>
            </a:r>
            <a:endParaRPr kumimoji="0" lang="it-IT" sz="11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cxnSp>
        <p:nvCxnSpPr>
          <p:cNvPr id="24" name="Connettore 2 23">
            <a:extLst>
              <a:ext uri="{FF2B5EF4-FFF2-40B4-BE49-F238E27FC236}">
                <a16:creationId xmlns:a16="http://schemas.microsoft.com/office/drawing/2014/main" id="{F6192DEC-1BF6-03D1-A54F-ACB23F085CFE}"/>
              </a:ext>
            </a:extLst>
          </p:cNvPr>
          <p:cNvCxnSpPr>
            <a:cxnSpLocks/>
          </p:cNvCxnSpPr>
          <p:nvPr/>
        </p:nvCxnSpPr>
        <p:spPr>
          <a:xfrm>
            <a:off x="1759547" y="5247515"/>
            <a:ext cx="3710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sellaDiTesto 26">
            <a:extLst>
              <a:ext uri="{FF2B5EF4-FFF2-40B4-BE49-F238E27FC236}">
                <a16:creationId xmlns:a16="http://schemas.microsoft.com/office/drawing/2014/main" id="{DA3C7B87-DC8D-0E14-F83E-16A13CF3D131}"/>
              </a:ext>
            </a:extLst>
          </p:cNvPr>
          <p:cNvSpPr txBox="1"/>
          <p:nvPr/>
        </p:nvSpPr>
        <p:spPr>
          <a:xfrm>
            <a:off x="5651043" y="4762290"/>
            <a:ext cx="89159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</a:t>
            </a:r>
            <a:r>
              <a:rPr kumimoji="0" lang="it-IT" sz="7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in</a:t>
            </a: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</a:t>
            </a:r>
            <a:r>
              <a:rPr kumimoji="0" lang="it-IT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predicted</a:t>
            </a:r>
            <a:endParaRPr kumimoji="0" lang="it-IT" sz="10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8" name="CasellaDiTesto 27">
            <a:extLst>
              <a:ext uri="{FF2B5EF4-FFF2-40B4-BE49-F238E27FC236}">
                <a16:creationId xmlns:a16="http://schemas.microsoft.com/office/drawing/2014/main" id="{7CAEA97A-A2D9-BE02-4652-557503C818A0}"/>
              </a:ext>
            </a:extLst>
          </p:cNvPr>
          <p:cNvSpPr txBox="1"/>
          <p:nvPr/>
        </p:nvSpPr>
        <p:spPr>
          <a:xfrm>
            <a:off x="5659529" y="5056754"/>
            <a:ext cx="952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RH </a:t>
            </a:r>
            <a:r>
              <a:rPr kumimoji="0" lang="it-IT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predicted</a:t>
            </a:r>
            <a:endParaRPr kumimoji="0" lang="it-IT" sz="10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cxnSp>
        <p:nvCxnSpPr>
          <p:cNvPr id="29" name="Connettore 2 28">
            <a:extLst>
              <a:ext uri="{FF2B5EF4-FFF2-40B4-BE49-F238E27FC236}">
                <a16:creationId xmlns:a16="http://schemas.microsoft.com/office/drawing/2014/main" id="{9BB1C174-4623-C760-53CA-524C1DB5D55E}"/>
              </a:ext>
            </a:extLst>
          </p:cNvPr>
          <p:cNvCxnSpPr>
            <a:cxnSpLocks/>
          </p:cNvCxnSpPr>
          <p:nvPr/>
        </p:nvCxnSpPr>
        <p:spPr>
          <a:xfrm>
            <a:off x="7061461" y="5765030"/>
            <a:ext cx="38633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ttore 2 31">
            <a:extLst>
              <a:ext uri="{FF2B5EF4-FFF2-40B4-BE49-F238E27FC236}">
                <a16:creationId xmlns:a16="http://schemas.microsoft.com/office/drawing/2014/main" id="{112A4FC8-C457-8188-CA99-26C562C75236}"/>
              </a:ext>
            </a:extLst>
          </p:cNvPr>
          <p:cNvCxnSpPr>
            <a:cxnSpLocks/>
          </p:cNvCxnSpPr>
          <p:nvPr/>
        </p:nvCxnSpPr>
        <p:spPr>
          <a:xfrm flipV="1">
            <a:off x="7089251" y="6162196"/>
            <a:ext cx="358549" cy="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nettore 2 34">
            <a:extLst>
              <a:ext uri="{FF2B5EF4-FFF2-40B4-BE49-F238E27FC236}">
                <a16:creationId xmlns:a16="http://schemas.microsoft.com/office/drawing/2014/main" id="{6520F524-89B8-9140-8025-3BF7F8A0A72E}"/>
              </a:ext>
            </a:extLst>
          </p:cNvPr>
          <p:cNvCxnSpPr>
            <a:cxnSpLocks/>
          </p:cNvCxnSpPr>
          <p:nvPr/>
        </p:nvCxnSpPr>
        <p:spPr>
          <a:xfrm flipV="1">
            <a:off x="9175079" y="5867671"/>
            <a:ext cx="358549" cy="8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ttangolo con angoli arrotondati 35">
            <a:extLst>
              <a:ext uri="{FF2B5EF4-FFF2-40B4-BE49-F238E27FC236}">
                <a16:creationId xmlns:a16="http://schemas.microsoft.com/office/drawing/2014/main" id="{A2A4531C-3C50-A1BC-8380-C737EF379BED}"/>
              </a:ext>
            </a:extLst>
          </p:cNvPr>
          <p:cNvSpPr/>
          <p:nvPr/>
        </p:nvSpPr>
        <p:spPr>
          <a:xfrm>
            <a:off x="2213325" y="5590992"/>
            <a:ext cx="2622916" cy="1198491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LSTM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layers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: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1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layer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64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units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 dropout 0.2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2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layer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32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units,dropout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0.2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Dense 16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units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ReLU</a:t>
            </a:r>
            <a:endParaRPr kumimoji="0" lang="it-IT" sz="1100" b="0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Dense 1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unit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, linear</a:t>
            </a:r>
          </a:p>
          <a:p>
            <a:pPr marL="285750" marR="0" lvl="0" indent="-285750" algn="ju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Optimizer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: Adam </a:t>
            </a:r>
            <a:r>
              <a:rPr kumimoji="0" lang="it-IT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learnig</a:t>
            </a:r>
            <a:r>
              <a:rPr kumimoji="0" lang="it-IT" sz="1100" b="0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 rate 0.001</a:t>
            </a:r>
          </a:p>
        </p:txBody>
      </p:sp>
      <p:sp>
        <p:nvSpPr>
          <p:cNvPr id="38" name="Rettangolo con angoli arrotondati 37">
            <a:extLst>
              <a:ext uri="{FF2B5EF4-FFF2-40B4-BE49-F238E27FC236}">
                <a16:creationId xmlns:a16="http://schemas.microsoft.com/office/drawing/2014/main" id="{5816B4E0-E32D-E5AE-05D5-2981B14471FC}"/>
              </a:ext>
            </a:extLst>
          </p:cNvPr>
          <p:cNvSpPr/>
          <p:nvPr/>
        </p:nvSpPr>
        <p:spPr>
          <a:xfrm>
            <a:off x="5533584" y="5628696"/>
            <a:ext cx="1463040" cy="30841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200" b="1" i="0" u="none" strike="noStrike" kern="1200" cap="none" spc="0" normalizeH="0" baseline="0" noProof="0" dirty="0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TSV </a:t>
            </a:r>
            <a:r>
              <a:rPr kumimoji="0" lang="it-IT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0048E5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predicted</a:t>
            </a:r>
            <a:endParaRPr kumimoji="0" lang="it-IT" sz="1200" b="1" i="0" u="none" strike="noStrike" kern="1200" cap="none" spc="0" normalizeH="0" baseline="0" noProof="0" dirty="0">
              <a:ln>
                <a:noFill/>
              </a:ln>
              <a:solidFill>
                <a:srgbClr val="0048E5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2" name="Freccia a destra 1">
            <a:extLst>
              <a:ext uri="{FF2B5EF4-FFF2-40B4-BE49-F238E27FC236}">
                <a16:creationId xmlns:a16="http://schemas.microsoft.com/office/drawing/2014/main" id="{432F961F-A873-2084-E6F5-8A94E071853F}"/>
              </a:ext>
            </a:extLst>
          </p:cNvPr>
          <p:cNvSpPr/>
          <p:nvPr/>
        </p:nvSpPr>
        <p:spPr>
          <a:xfrm rot="5400000">
            <a:off x="8633572" y="2982769"/>
            <a:ext cx="301609" cy="230922"/>
          </a:xfrm>
          <a:prstGeom prst="rightArrow">
            <a:avLst>
              <a:gd name="adj1" fmla="val 50000"/>
              <a:gd name="adj2" fmla="val 43785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3" name="Rettangolo con angoli arrotondati 2">
            <a:extLst>
              <a:ext uri="{FF2B5EF4-FFF2-40B4-BE49-F238E27FC236}">
                <a16:creationId xmlns:a16="http://schemas.microsoft.com/office/drawing/2014/main" id="{D85293E7-A8F2-AEB2-8C4C-15104AF8CE6C}"/>
              </a:ext>
            </a:extLst>
          </p:cNvPr>
          <p:cNvSpPr/>
          <p:nvPr/>
        </p:nvSpPr>
        <p:spPr>
          <a:xfrm>
            <a:off x="2108231" y="4910616"/>
            <a:ext cx="3203140" cy="623681"/>
          </a:xfrm>
          <a:prstGeom prst="round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B0503020102020204"/>
              <a:ea typeface="+mn-ea"/>
              <a:cs typeface="+mn-cs"/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C6963CB6-0DF7-59D2-EA7B-6066D82A2838}"/>
              </a:ext>
            </a:extLst>
          </p:cNvPr>
          <p:cNvSpPr txBox="1"/>
          <p:nvPr/>
        </p:nvSpPr>
        <p:spPr>
          <a:xfrm>
            <a:off x="4513903" y="4682121"/>
            <a:ext cx="95200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effectLst/>
                <a:uLnTx/>
                <a:uFillTx/>
                <a:latin typeface="Franklin Gothic Book" panose="020B0503020102020204"/>
                <a:ea typeface="+mn-ea"/>
                <a:cs typeface="+mn-cs"/>
              </a:rPr>
              <a:t>AI BLOCK</a:t>
            </a:r>
          </a:p>
        </p:txBody>
      </p:sp>
      <p:cxnSp>
        <p:nvCxnSpPr>
          <p:cNvPr id="50" name="Connettore a gomito 49">
            <a:extLst>
              <a:ext uri="{FF2B5EF4-FFF2-40B4-BE49-F238E27FC236}">
                <a16:creationId xmlns:a16="http://schemas.microsoft.com/office/drawing/2014/main" id="{D9A3C1A7-3DC4-1795-CA1A-C607212CB830}"/>
              </a:ext>
            </a:extLst>
          </p:cNvPr>
          <p:cNvCxnSpPr>
            <a:stCxn id="17" idx="3"/>
            <a:endCxn id="38" idx="1"/>
          </p:cNvCxnSpPr>
          <p:nvPr/>
        </p:nvCxnSpPr>
        <p:spPr>
          <a:xfrm>
            <a:off x="5147610" y="5225773"/>
            <a:ext cx="385974" cy="5571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Connettore 2 50">
            <a:extLst>
              <a:ext uri="{FF2B5EF4-FFF2-40B4-BE49-F238E27FC236}">
                <a16:creationId xmlns:a16="http://schemas.microsoft.com/office/drawing/2014/main" id="{92EE0686-B101-237C-8654-285679377D9E}"/>
              </a:ext>
            </a:extLst>
          </p:cNvPr>
          <p:cNvCxnSpPr>
            <a:cxnSpLocks/>
          </p:cNvCxnSpPr>
          <p:nvPr/>
        </p:nvCxnSpPr>
        <p:spPr>
          <a:xfrm>
            <a:off x="5157777" y="5222456"/>
            <a:ext cx="4915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Connettore a gomito 53">
            <a:extLst>
              <a:ext uri="{FF2B5EF4-FFF2-40B4-BE49-F238E27FC236}">
                <a16:creationId xmlns:a16="http://schemas.microsoft.com/office/drawing/2014/main" id="{00689E47-A9CB-748F-482A-015FE32573CC}"/>
              </a:ext>
            </a:extLst>
          </p:cNvPr>
          <p:cNvCxnSpPr>
            <a:cxnSpLocks/>
            <a:stCxn id="17" idx="3"/>
          </p:cNvCxnSpPr>
          <p:nvPr/>
        </p:nvCxnSpPr>
        <p:spPr>
          <a:xfrm flipV="1">
            <a:off x="5147610" y="4900836"/>
            <a:ext cx="501752" cy="324937"/>
          </a:xfrm>
          <a:prstGeom prst="bentConnector3">
            <a:avLst>
              <a:gd name="adj1" fmla="val 39085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27961"/>
      </p:ext>
    </p:extLst>
  </p:cSld>
  <p:clrMapOvr>
    <a:masterClrMapping/>
  </p:clrMapOvr>
</p:sld>
</file>

<file path=ppt/theme/theme1.xml><?xml version="1.0" encoding="utf-8"?>
<a:theme xmlns:a="http://schemas.openxmlformats.org/drawingml/2006/main" name="1_Tema di Office">
  <a:themeElements>
    <a:clrScheme name="Dedalus">
      <a:dk1>
        <a:srgbClr val="0048E5"/>
      </a:dk1>
      <a:lt1>
        <a:srgbClr val="FFFFFF"/>
      </a:lt1>
      <a:dk2>
        <a:srgbClr val="FFBD00"/>
      </a:dk2>
      <a:lt2>
        <a:srgbClr val="0048E5"/>
      </a:lt2>
      <a:accent1>
        <a:srgbClr val="0048E5"/>
      </a:accent1>
      <a:accent2>
        <a:srgbClr val="FFBD00"/>
      </a:accent2>
      <a:accent3>
        <a:srgbClr val="3336FF"/>
      </a:accent3>
      <a:accent4>
        <a:srgbClr val="040423"/>
      </a:accent4>
      <a:accent5>
        <a:srgbClr val="CCCCCC"/>
      </a:accent5>
      <a:accent6>
        <a:srgbClr val="FFFFFF"/>
      </a:accent6>
      <a:hlink>
        <a:srgbClr val="FFBE00"/>
      </a:hlink>
      <a:folHlink>
        <a:srgbClr val="FFBE00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578</Words>
  <Application>Microsoft Office PowerPoint</Application>
  <PresentationFormat>Widescreen</PresentationFormat>
  <Paragraphs>60</Paragraphs>
  <Slides>2</Slides>
  <Notes>2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2</vt:i4>
      </vt:variant>
    </vt:vector>
  </HeadingPairs>
  <TitlesOfParts>
    <vt:vector size="8" baseType="lpstr">
      <vt:lpstr>Aptos</vt:lpstr>
      <vt:lpstr>Arial</vt:lpstr>
      <vt:lpstr>Franklin Gothic Book</vt:lpstr>
      <vt:lpstr>Franklin Gothic Medium</vt:lpstr>
      <vt:lpstr>Montserrat</vt:lpstr>
      <vt:lpstr>1_Tema di Office</vt:lpstr>
      <vt:lpstr>Comfort Flexibility Service</vt:lpstr>
      <vt:lpstr>Comfort Flexibility Service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KACULI RICHARD</dc:creator>
  <cp:lastModifiedBy>KACULI RICHARD</cp:lastModifiedBy>
  <cp:revision>1</cp:revision>
  <dcterms:created xsi:type="dcterms:W3CDTF">2025-04-30T13:35:52Z</dcterms:created>
  <dcterms:modified xsi:type="dcterms:W3CDTF">2025-04-30T13:37:33Z</dcterms:modified>
</cp:coreProperties>
</file>